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56" r:id="rId5"/>
    <p:sldId id="257" r:id="rId6"/>
    <p:sldId id="262" r:id="rId7"/>
    <p:sldId id="261" r:id="rId8"/>
    <p:sldId id="260" r:id="rId9"/>
    <p:sldId id="258" r:id="rId10"/>
    <p:sldId id="263" r:id="rId11"/>
    <p:sldId id="276" r:id="rId12"/>
    <p:sldId id="274" r:id="rId13"/>
    <p:sldId id="280" r:id="rId14"/>
    <p:sldId id="278" r:id="rId15"/>
    <p:sldId id="277" r:id="rId16"/>
    <p:sldId id="279" r:id="rId17"/>
    <p:sldId id="272" r:id="rId18"/>
    <p:sldId id="273" r:id="rId19"/>
    <p:sldId id="25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631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B2EF02-C61D-4F23-86A1-E81329133D2C}" type="datetimeFigureOut">
              <a:rPr lang="en-IN" smtClean="0"/>
              <a:t>08-04-2025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182998-E889-4158-8719-47E183D6200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182998-E889-4158-8719-47E183D62000}" type="slidenum">
              <a:rPr lang="en-IN" smtClean="0"/>
              <a:t>7</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5DBDBAF7-8753-45C5-B86E-DF14478FB8C2}"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9EF718-700F-4A02-9221-025FA9D0ECBB}"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9EF718-700F-4A02-9221-025FA9D0ECBB}" type="datetimeFigureOut">
              <a:rPr lang="en-IN" smtClean="0"/>
              <a:t>08-04-2025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BDBAF7-8753-45C5-B86E-DF14478FB8C2}"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9EF718-700F-4A02-9221-025FA9D0ECBB}" type="datetimeFigureOut">
              <a:rPr lang="en-IN" smtClean="0"/>
              <a:t>08-04-2025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BDBAF7-8753-45C5-B86E-DF14478FB8C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EF718-700F-4A02-9221-025FA9D0ECBB}" type="datetimeFigureOut">
              <a:rPr lang="en-IN" smtClean="0"/>
              <a:t>08-04-2025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9EF718-700F-4A02-9221-025FA9D0ECBB}"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BDBAF7-8753-45C5-B86E-DF14478FB8C2}"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9EF718-700F-4A02-9221-025FA9D0ECBB}"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9EF718-700F-4A02-9221-025FA9D0ECBB}"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9EF718-700F-4A02-9221-025FA9D0ECBB}"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BDBAF7-8753-45C5-B86E-DF14478FB8C2}"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9EF718-700F-4A02-9221-025FA9D0ECBB}" type="datetimeFigureOut">
              <a:rPr lang="en-IN" smtClean="0"/>
              <a:t>08-04-2025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BDBAF7-8753-45C5-B86E-DF14478FB8C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micsymposium.org/mics_2009_proceedings/mics2009_submission_66.pdf"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24281" y="4219469"/>
            <a:ext cx="2943434" cy="584775"/>
          </a:xfrm>
          <a:prstGeom prst="rect">
            <a:avLst/>
          </a:prstGeom>
          <a:noFill/>
        </p:spPr>
        <p:txBody>
          <a:bodyPr wrap="none" rtlCol="0">
            <a:spAutoFit/>
          </a:bodyPr>
          <a:lstStyle/>
          <a:p>
            <a:pPr algn="ctr"/>
            <a:r>
              <a:rPr lang="en-IN" sz="3200" b="1" dirty="0"/>
              <a:t>Soft Computing</a:t>
            </a:r>
          </a:p>
        </p:txBody>
      </p:sp>
      <p:sp>
        <p:nvSpPr>
          <p:cNvPr id="5" name="TextBox 4"/>
          <p:cNvSpPr txBox="1"/>
          <p:nvPr/>
        </p:nvSpPr>
        <p:spPr>
          <a:xfrm>
            <a:off x="2418933" y="1976811"/>
            <a:ext cx="7354129" cy="1323439"/>
          </a:xfrm>
          <a:prstGeom prst="rect">
            <a:avLst/>
          </a:prstGeom>
          <a:noFill/>
        </p:spPr>
        <p:txBody>
          <a:bodyPr wrap="none" rtlCol="0">
            <a:spAutoFit/>
          </a:bodyPr>
          <a:lstStyle/>
          <a:p>
            <a:pPr algn="ctr"/>
            <a:r>
              <a:rPr lang="en-GB" sz="4000" b="1" dirty="0"/>
              <a:t>Optimized Sudoku Solving using</a:t>
            </a:r>
          </a:p>
          <a:p>
            <a:pPr algn="ctr"/>
            <a:r>
              <a:rPr lang="en-GB" sz="4000" b="1" dirty="0"/>
              <a:t> Genetic Algorithm</a:t>
            </a:r>
            <a:endParaRPr lang="en-IN" sz="4000" b="1" dirty="0"/>
          </a:p>
        </p:txBody>
      </p:sp>
      <p:sp>
        <p:nvSpPr>
          <p:cNvPr id="6" name="TextBox 5"/>
          <p:cNvSpPr txBox="1"/>
          <p:nvPr/>
        </p:nvSpPr>
        <p:spPr>
          <a:xfrm>
            <a:off x="4928853" y="5718553"/>
            <a:ext cx="2334293" cy="369332"/>
          </a:xfrm>
          <a:prstGeom prst="rect">
            <a:avLst/>
          </a:prstGeom>
          <a:noFill/>
        </p:spPr>
        <p:txBody>
          <a:bodyPr wrap="none" rtlCol="0">
            <a:spAutoFit/>
          </a:bodyPr>
          <a:lstStyle/>
          <a:p>
            <a:pPr algn="ctr"/>
            <a:r>
              <a:rPr lang="en-IN" dirty="0"/>
              <a:t>Course Code: </a:t>
            </a:r>
            <a:r>
              <a:rPr lang="en-IN" b="1" dirty="0"/>
              <a:t>CSE2009</a:t>
            </a:r>
          </a:p>
        </p:txBody>
      </p:sp>
      <p:sp>
        <p:nvSpPr>
          <p:cNvPr id="7" name="TextBox 6"/>
          <p:cNvSpPr txBox="1"/>
          <p:nvPr/>
        </p:nvSpPr>
        <p:spPr>
          <a:xfrm>
            <a:off x="5160101" y="4804244"/>
            <a:ext cx="1871795" cy="584775"/>
          </a:xfrm>
          <a:prstGeom prst="rect">
            <a:avLst/>
          </a:prstGeom>
          <a:noFill/>
        </p:spPr>
        <p:txBody>
          <a:bodyPr wrap="none" rtlCol="0">
            <a:spAutoFit/>
          </a:bodyPr>
          <a:lstStyle/>
          <a:p>
            <a:pPr algn="ctr"/>
            <a:r>
              <a:rPr lang="en-IN" sz="3200" b="1" dirty="0"/>
              <a:t>Review II</a:t>
            </a:r>
          </a:p>
        </p:txBody>
      </p:sp>
      <p:sp>
        <p:nvSpPr>
          <p:cNvPr id="2" name="TextBox 1">
            <a:extLst>
              <a:ext uri="{FF2B5EF4-FFF2-40B4-BE49-F238E27FC236}">
                <a16:creationId xmlns:a16="http://schemas.microsoft.com/office/drawing/2014/main" id="{53E772D0-DF4A-016F-1F1E-A168638DFBBA}"/>
              </a:ext>
            </a:extLst>
          </p:cNvPr>
          <p:cNvSpPr txBox="1"/>
          <p:nvPr/>
        </p:nvSpPr>
        <p:spPr>
          <a:xfrm>
            <a:off x="737438" y="5426398"/>
            <a:ext cx="3529762" cy="369332"/>
          </a:xfrm>
          <a:prstGeom prst="rect">
            <a:avLst/>
          </a:prstGeom>
          <a:noFill/>
        </p:spPr>
        <p:txBody>
          <a:bodyPr wrap="square" rtlCol="0">
            <a:spAutoFit/>
          </a:bodyPr>
          <a:lstStyle/>
          <a:p>
            <a:r>
              <a:rPr lang="en-US" dirty="0" err="1"/>
              <a:t>Jonnadula</a:t>
            </a:r>
            <a:r>
              <a:rPr lang="en-US" dirty="0"/>
              <a:t> Hari Kiran – 23BCE9689</a:t>
            </a:r>
            <a:endParaRPr lang="en-IN" dirty="0"/>
          </a:p>
        </p:txBody>
      </p:sp>
      <p:sp>
        <p:nvSpPr>
          <p:cNvPr id="3" name="TextBox 2">
            <a:extLst>
              <a:ext uri="{FF2B5EF4-FFF2-40B4-BE49-F238E27FC236}">
                <a16:creationId xmlns:a16="http://schemas.microsoft.com/office/drawing/2014/main" id="{F0D1664D-35C4-17FB-2F1F-1821FB523378}"/>
              </a:ext>
            </a:extLst>
          </p:cNvPr>
          <p:cNvSpPr txBox="1"/>
          <p:nvPr/>
        </p:nvSpPr>
        <p:spPr>
          <a:xfrm>
            <a:off x="750038" y="5106226"/>
            <a:ext cx="3366499" cy="369332"/>
          </a:xfrm>
          <a:prstGeom prst="rect">
            <a:avLst/>
          </a:prstGeom>
          <a:noFill/>
        </p:spPr>
        <p:txBody>
          <a:bodyPr wrap="square" rtlCol="0">
            <a:spAutoFit/>
          </a:bodyPr>
          <a:lstStyle/>
          <a:p>
            <a:r>
              <a:rPr lang="en-US" dirty="0" err="1"/>
              <a:t>Koramutla</a:t>
            </a:r>
            <a:r>
              <a:rPr lang="en-US" dirty="0"/>
              <a:t> Vivek – 23BCE9396</a:t>
            </a:r>
            <a:endParaRPr lang="en-IN" dirty="0"/>
          </a:p>
        </p:txBody>
      </p:sp>
      <p:sp>
        <p:nvSpPr>
          <p:cNvPr id="8" name="TextBox 7">
            <a:extLst>
              <a:ext uri="{FF2B5EF4-FFF2-40B4-BE49-F238E27FC236}">
                <a16:creationId xmlns:a16="http://schemas.microsoft.com/office/drawing/2014/main" id="{2B878482-B92E-2D54-244C-478C15731F56}"/>
              </a:ext>
            </a:extLst>
          </p:cNvPr>
          <p:cNvSpPr txBox="1"/>
          <p:nvPr/>
        </p:nvSpPr>
        <p:spPr>
          <a:xfrm>
            <a:off x="737438" y="5745502"/>
            <a:ext cx="3222194" cy="369332"/>
          </a:xfrm>
          <a:prstGeom prst="rect">
            <a:avLst/>
          </a:prstGeom>
          <a:noFill/>
        </p:spPr>
        <p:txBody>
          <a:bodyPr wrap="square" rtlCol="0">
            <a:spAutoFit/>
          </a:bodyPr>
          <a:lstStyle/>
          <a:p>
            <a:r>
              <a:rPr lang="en-US" dirty="0" err="1"/>
              <a:t>Konagalla</a:t>
            </a:r>
            <a:r>
              <a:rPr lang="en-US" dirty="0"/>
              <a:t> Rahul – 23BCE9193</a:t>
            </a:r>
            <a:endParaRPr lang="en-IN" dirty="0"/>
          </a:p>
        </p:txBody>
      </p:sp>
      <p:sp>
        <p:nvSpPr>
          <p:cNvPr id="9" name="TextBox 8">
            <a:extLst>
              <a:ext uri="{FF2B5EF4-FFF2-40B4-BE49-F238E27FC236}">
                <a16:creationId xmlns:a16="http://schemas.microsoft.com/office/drawing/2014/main" id="{4DF078E6-0DA2-26D9-6337-E434BFCA557E}"/>
              </a:ext>
            </a:extLst>
          </p:cNvPr>
          <p:cNvSpPr txBox="1"/>
          <p:nvPr/>
        </p:nvSpPr>
        <p:spPr>
          <a:xfrm>
            <a:off x="750038" y="4795148"/>
            <a:ext cx="3366499" cy="369332"/>
          </a:xfrm>
          <a:prstGeom prst="rect">
            <a:avLst/>
          </a:prstGeom>
          <a:noFill/>
        </p:spPr>
        <p:txBody>
          <a:bodyPr wrap="square" rtlCol="0">
            <a:spAutoFit/>
          </a:bodyPr>
          <a:lstStyle/>
          <a:p>
            <a:r>
              <a:rPr lang="en-US" dirty="0"/>
              <a:t>Shaik Kaif Sharif– 23BCE9393</a:t>
            </a:r>
            <a:endParaRPr lang="en-IN" dirty="0"/>
          </a:p>
        </p:txBody>
      </p:sp>
      <p:sp>
        <p:nvSpPr>
          <p:cNvPr id="14" name="TextBox 13">
            <a:extLst>
              <a:ext uri="{FF2B5EF4-FFF2-40B4-BE49-F238E27FC236}">
                <a16:creationId xmlns:a16="http://schemas.microsoft.com/office/drawing/2014/main" id="{F9299C2F-B897-23F6-566E-31939732FD7D}"/>
              </a:ext>
            </a:extLst>
          </p:cNvPr>
          <p:cNvSpPr txBox="1"/>
          <p:nvPr/>
        </p:nvSpPr>
        <p:spPr>
          <a:xfrm>
            <a:off x="737438" y="4313062"/>
            <a:ext cx="2579937" cy="523220"/>
          </a:xfrm>
          <a:prstGeom prst="rect">
            <a:avLst/>
          </a:prstGeom>
          <a:noFill/>
        </p:spPr>
        <p:txBody>
          <a:bodyPr wrap="none" rtlCol="0">
            <a:spAutoFit/>
          </a:bodyPr>
          <a:lstStyle/>
          <a:p>
            <a:r>
              <a:rPr lang="en-IN" sz="2800" b="1" dirty="0"/>
              <a:t>Team Members</a:t>
            </a:r>
            <a:endParaRPr lang="en-IN" sz="1600" b="1" dirty="0"/>
          </a:p>
        </p:txBody>
      </p:sp>
      <p:sp>
        <p:nvSpPr>
          <p:cNvPr id="15" name="TextBox 14">
            <a:extLst>
              <a:ext uri="{FF2B5EF4-FFF2-40B4-BE49-F238E27FC236}">
                <a16:creationId xmlns:a16="http://schemas.microsoft.com/office/drawing/2014/main" id="{C4D865EF-1CA6-580B-1A31-CEBBA4A2E33A}"/>
              </a:ext>
            </a:extLst>
          </p:cNvPr>
          <p:cNvSpPr txBox="1"/>
          <p:nvPr/>
        </p:nvSpPr>
        <p:spPr>
          <a:xfrm>
            <a:off x="9097333" y="5096631"/>
            <a:ext cx="2261709" cy="954107"/>
          </a:xfrm>
          <a:prstGeom prst="rect">
            <a:avLst/>
          </a:prstGeom>
          <a:noFill/>
        </p:spPr>
        <p:txBody>
          <a:bodyPr wrap="none" rtlCol="0">
            <a:spAutoFit/>
          </a:bodyPr>
          <a:lstStyle/>
          <a:p>
            <a:pPr algn="r"/>
            <a:r>
              <a:rPr lang="en-IN" sz="2800" b="1" dirty="0"/>
              <a:t>Faculty</a:t>
            </a:r>
          </a:p>
          <a:p>
            <a:pPr algn="r"/>
            <a:r>
              <a:rPr lang="en-IN" sz="2800" dirty="0" err="1"/>
              <a:t>Prof.A</a:t>
            </a:r>
            <a:r>
              <a:rPr lang="en-IN" sz="2800" dirty="0"/>
              <a:t> Shanthi</a:t>
            </a:r>
            <a:endParaRPr lang="en-IN"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1000"/>
                                        <p:tgtEl>
                                          <p:spTgt spid="3"/>
                                        </p:tgtEl>
                                      </p:cBhvr>
                                    </p:animEffect>
                                    <p:anim calcmode="lin" valueType="num">
                                      <p:cBhvr>
                                        <p:cTn id="38" dur="1000" fill="hold"/>
                                        <p:tgtEl>
                                          <p:spTgt spid="3"/>
                                        </p:tgtEl>
                                        <p:attrNameLst>
                                          <p:attrName>ppt_x</p:attrName>
                                        </p:attrNameLst>
                                      </p:cBhvr>
                                      <p:tavLst>
                                        <p:tav tm="0">
                                          <p:val>
                                            <p:strVal val="#ppt_x"/>
                                          </p:val>
                                        </p:tav>
                                        <p:tav tm="100000">
                                          <p:val>
                                            <p:strVal val="#ppt_x"/>
                                          </p:val>
                                        </p:tav>
                                      </p:tavLst>
                                    </p:anim>
                                    <p:anim calcmode="lin" valueType="num">
                                      <p:cBhvr>
                                        <p:cTn id="39" dur="1000" fill="hold"/>
                                        <p:tgtEl>
                                          <p:spTgt spid="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2" grpId="0"/>
      <p:bldP spid="3" grpId="0"/>
      <p:bldP spid="8" grpId="0"/>
      <p:bldP spid="9" grpId="0"/>
      <p:bldP spid="1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93932" y="914021"/>
            <a:ext cx="3185167" cy="646331"/>
          </a:xfrm>
          <a:prstGeom prst="rect">
            <a:avLst/>
          </a:prstGeom>
          <a:noFill/>
        </p:spPr>
        <p:txBody>
          <a:bodyPr wrap="none" rtlCol="0">
            <a:spAutoFit/>
          </a:bodyPr>
          <a:lstStyle/>
          <a:p>
            <a:r>
              <a:rPr lang="en-IN" sz="3600" b="1" dirty="0"/>
              <a:t>Project Agenda</a:t>
            </a:r>
            <a:endParaRPr lang="en-IN" sz="2400" b="1" dirty="0"/>
          </a:p>
        </p:txBody>
      </p:sp>
      <p:sp>
        <p:nvSpPr>
          <p:cNvPr id="4" name="Rectangle 1"/>
          <p:cNvSpPr>
            <a:spLocks noChangeArrowheads="1"/>
          </p:cNvSpPr>
          <p:nvPr/>
        </p:nvSpPr>
        <p:spPr bwMode="auto">
          <a:xfrm>
            <a:off x="1193932" y="1557375"/>
            <a:ext cx="60265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Introduction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Literature Survey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Problem Statement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lang="en-US" altLang="en-US" sz="3200" dirty="0">
                <a:solidFill>
                  <a:schemeClr val="tx1">
                    <a:lumMod val="65000"/>
                    <a:lumOff val="35000"/>
                  </a:schemeClr>
                </a:solidFill>
                <a:latin typeface="+mj-lt"/>
              </a:rPr>
              <a:t>Objective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Block</a:t>
            </a:r>
            <a:r>
              <a:rPr kumimoji="0" lang="en-US" altLang="en-US" sz="3200" i="0" u="none" strike="noStrike" cap="none" normalizeH="0" dirty="0">
                <a:ln>
                  <a:noFill/>
                </a:ln>
                <a:solidFill>
                  <a:schemeClr val="tx1">
                    <a:lumMod val="65000"/>
                    <a:lumOff val="35000"/>
                  </a:schemeClr>
                </a:solidFill>
                <a:effectLst/>
                <a:latin typeface="+mj-lt"/>
              </a:rPr>
              <a:t> Diagram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lang="en-US" altLang="en-US" sz="3200" baseline="0" dirty="0">
                <a:solidFill>
                  <a:schemeClr val="tx1">
                    <a:lumMod val="65000"/>
                    <a:lumOff val="35000"/>
                  </a:schemeClr>
                </a:solidFill>
                <a:latin typeface="+mj-lt"/>
              </a:rPr>
              <a:t>Implementation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lang="en-US" altLang="en-US" sz="3200" dirty="0">
                <a:solidFill>
                  <a:schemeClr val="tx1">
                    <a:lumMod val="65000"/>
                    <a:lumOff val="35000"/>
                  </a:schemeClr>
                </a:solidFill>
                <a:latin typeface="+mj-lt"/>
              </a:rPr>
              <a:t>Methodology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Results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3200" i="0" u="none" strike="noStrike" cap="none" normalizeH="0" baseline="0" dirty="0">
                <a:ln>
                  <a:noFill/>
                </a:ln>
                <a:solidFill>
                  <a:schemeClr val="tx1">
                    <a:lumMod val="65000"/>
                    <a:lumOff val="35000"/>
                  </a:schemeClr>
                </a:solidFill>
                <a:effectLst/>
                <a:latin typeface="+mj-lt"/>
              </a:rPr>
              <a:t>References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22691" y="1192883"/>
            <a:ext cx="2665794" cy="646331"/>
          </a:xfrm>
          <a:prstGeom prst="rect">
            <a:avLst/>
          </a:prstGeom>
          <a:noFill/>
        </p:spPr>
        <p:txBody>
          <a:bodyPr wrap="none" rtlCol="0">
            <a:spAutoFit/>
          </a:bodyPr>
          <a:lstStyle/>
          <a:p>
            <a:r>
              <a:rPr lang="en-IN" sz="3600" b="1" dirty="0"/>
              <a:t>Introduction</a:t>
            </a:r>
            <a:endParaRPr lang="en-IN" sz="2400" b="1" dirty="0"/>
          </a:p>
        </p:txBody>
      </p:sp>
      <p:sp>
        <p:nvSpPr>
          <p:cNvPr id="5" name="TextBox 4">
            <a:extLst>
              <a:ext uri="{FF2B5EF4-FFF2-40B4-BE49-F238E27FC236}">
                <a16:creationId xmlns:a16="http://schemas.microsoft.com/office/drawing/2014/main" id="{6713CB9F-6871-1FB2-181C-E1038DC6B28C}"/>
              </a:ext>
            </a:extLst>
          </p:cNvPr>
          <p:cNvSpPr txBox="1"/>
          <p:nvPr/>
        </p:nvSpPr>
        <p:spPr>
          <a:xfrm>
            <a:off x="1122691" y="2050307"/>
            <a:ext cx="10105748" cy="1754326"/>
          </a:xfrm>
          <a:prstGeom prst="rect">
            <a:avLst/>
          </a:prstGeom>
          <a:noFill/>
        </p:spPr>
        <p:txBody>
          <a:bodyPr wrap="square">
            <a:spAutoFit/>
          </a:bodyPr>
          <a:lstStyle/>
          <a:p>
            <a:r>
              <a:rPr lang="en-US" i="1" dirty="0">
                <a:solidFill>
                  <a:srgbClr val="806316"/>
                </a:solidFill>
                <a:latin typeface="Constantia" panose="02030602050306030303" pitchFamily="18" charset="0"/>
              </a:rPr>
              <a:t>Sudoku is a number placement puzzle that has achieved remarkable popularity in the past few years. In its classic form, the objective is to fill a 9x9 grid with the digits 1 to 9, subject to the following constraints: each row, each column, and each of the nine 3x3 </a:t>
            </a:r>
            <a:r>
              <a:rPr lang="en-US" i="1" dirty="0" err="1">
                <a:solidFill>
                  <a:srgbClr val="806316"/>
                </a:solidFill>
                <a:latin typeface="Constantia" panose="02030602050306030303" pitchFamily="18" charset="0"/>
              </a:rPr>
              <a:t>subgrids</a:t>
            </a:r>
            <a:r>
              <a:rPr lang="en-US" i="1" dirty="0">
                <a:solidFill>
                  <a:srgbClr val="806316"/>
                </a:solidFill>
                <a:latin typeface="Constantia" panose="02030602050306030303" pitchFamily="18" charset="0"/>
              </a:rPr>
              <a:t> must contain a permutation of the digits from 1 to 9. The initial puzzle configuration provides a partially completed grid, such as the example grid illustrated below left. The Sudoku solver must fill in the remaining grid elements to obtain a solution like the one given on the right. </a:t>
            </a:r>
            <a:endParaRPr lang="en-IN" i="1" dirty="0">
              <a:solidFill>
                <a:srgbClr val="806316"/>
              </a:solidFill>
              <a:latin typeface="Constantia" panose="02030602050306030303" pitchFamily="18" charset="0"/>
            </a:endParaRPr>
          </a:p>
        </p:txBody>
      </p:sp>
      <p:sp>
        <p:nvSpPr>
          <p:cNvPr id="7" name="TextBox 6">
            <a:extLst>
              <a:ext uri="{FF2B5EF4-FFF2-40B4-BE49-F238E27FC236}">
                <a16:creationId xmlns:a16="http://schemas.microsoft.com/office/drawing/2014/main" id="{957D4163-DC1F-2718-C6D0-9CFC3668EA04}"/>
              </a:ext>
            </a:extLst>
          </p:cNvPr>
          <p:cNvSpPr txBox="1"/>
          <p:nvPr/>
        </p:nvSpPr>
        <p:spPr>
          <a:xfrm>
            <a:off x="1122691" y="3910791"/>
            <a:ext cx="10105748" cy="1200329"/>
          </a:xfrm>
          <a:prstGeom prst="rect">
            <a:avLst/>
          </a:prstGeom>
          <a:noFill/>
        </p:spPr>
        <p:txBody>
          <a:bodyPr wrap="square">
            <a:spAutoFit/>
          </a:bodyPr>
          <a:lstStyle/>
          <a:p>
            <a:r>
              <a:rPr lang="en-US" i="1" dirty="0">
                <a:solidFill>
                  <a:srgbClr val="806316"/>
                </a:solidFill>
                <a:latin typeface="Constantia" panose="02030602050306030303" pitchFamily="18" charset="0"/>
              </a:rPr>
              <a:t>Sudoku is a special case of the Latin Square [2], with an additional constraint imposed by the permutation of digits inside each </a:t>
            </a:r>
            <a:r>
              <a:rPr lang="en-US" i="1" dirty="0" err="1">
                <a:solidFill>
                  <a:srgbClr val="806316"/>
                </a:solidFill>
                <a:latin typeface="Constantia" panose="02030602050306030303" pitchFamily="18" charset="0"/>
              </a:rPr>
              <a:t>subgrid</a:t>
            </a:r>
            <a:r>
              <a:rPr lang="en-US" i="1" dirty="0">
                <a:solidFill>
                  <a:srgbClr val="806316"/>
                </a:solidFill>
                <a:latin typeface="Constantia" panose="02030602050306030303" pitchFamily="18" charset="0"/>
              </a:rPr>
              <a:t>. Sudoku may be generalized to allow grid sizes other than 9x9. The most convenient sizes are perfect squares (4,9,16,…), since these contain square </a:t>
            </a:r>
            <a:r>
              <a:rPr lang="en-US" i="1" dirty="0" err="1">
                <a:solidFill>
                  <a:srgbClr val="806316"/>
                </a:solidFill>
                <a:latin typeface="Constantia" panose="02030602050306030303" pitchFamily="18" charset="0"/>
              </a:rPr>
              <a:t>subgrids</a:t>
            </a:r>
            <a:r>
              <a:rPr lang="en-US" i="1" dirty="0">
                <a:solidFill>
                  <a:srgbClr val="806316"/>
                </a:solidFill>
                <a:latin typeface="Constantia" panose="02030602050306030303" pitchFamily="18" charset="0"/>
              </a:rPr>
              <a:t> (2x2,3x3,4x4,…), but other variations (such as a 12x1</a:t>
            </a:r>
            <a:endParaRPr lang="en-IN" i="1" dirty="0">
              <a:solidFill>
                <a:srgbClr val="806316"/>
              </a:solidFill>
              <a:latin typeface="Constantia" panose="0203060205030603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6884" y="826682"/>
            <a:ext cx="3547702" cy="646331"/>
          </a:xfrm>
          <a:prstGeom prst="rect">
            <a:avLst/>
          </a:prstGeom>
          <a:noFill/>
        </p:spPr>
        <p:txBody>
          <a:bodyPr wrap="none" rtlCol="0">
            <a:spAutoFit/>
          </a:bodyPr>
          <a:lstStyle/>
          <a:p>
            <a:r>
              <a:rPr lang="en-IN" sz="3600" b="1" dirty="0"/>
              <a:t>Literature Survey</a:t>
            </a:r>
            <a:endParaRPr lang="en-IN" sz="2000" b="1" dirty="0"/>
          </a:p>
        </p:txBody>
      </p:sp>
      <p:sp>
        <p:nvSpPr>
          <p:cNvPr id="5" name="TextBox 4">
            <a:extLst>
              <a:ext uri="{FF2B5EF4-FFF2-40B4-BE49-F238E27FC236}">
                <a16:creationId xmlns:a16="http://schemas.microsoft.com/office/drawing/2014/main" id="{3C4740B3-8B4E-D2EC-5949-747C37B6FA62}"/>
              </a:ext>
            </a:extLst>
          </p:cNvPr>
          <p:cNvSpPr txBox="1"/>
          <p:nvPr/>
        </p:nvSpPr>
        <p:spPr>
          <a:xfrm>
            <a:off x="876875" y="1554799"/>
            <a:ext cx="9289671" cy="338554"/>
          </a:xfrm>
          <a:prstGeom prst="rect">
            <a:avLst/>
          </a:prstGeom>
          <a:noFill/>
        </p:spPr>
        <p:txBody>
          <a:bodyPr wrap="square">
            <a:spAutoFit/>
          </a:bodyPr>
          <a:lstStyle/>
          <a:p>
            <a:r>
              <a:rPr lang="en-US" sz="1600" i="1" dirty="0">
                <a:latin typeface="Constantia" panose="02030602050306030303" pitchFamily="18" charset="0"/>
              </a:rPr>
              <a:t>Authors who have applied Genetic Algorithms (GAs) to solve Sudoku,</a:t>
            </a:r>
            <a:endParaRPr lang="en-IN" sz="1600" i="1" dirty="0">
              <a:latin typeface="Constantia" panose="02030602050306030303" pitchFamily="18" charset="0"/>
            </a:endParaRPr>
          </a:p>
        </p:txBody>
      </p:sp>
      <p:sp>
        <p:nvSpPr>
          <p:cNvPr id="9" name="TextBox 8">
            <a:extLst>
              <a:ext uri="{FF2B5EF4-FFF2-40B4-BE49-F238E27FC236}">
                <a16:creationId xmlns:a16="http://schemas.microsoft.com/office/drawing/2014/main" id="{93DCE219-845C-667B-669F-E577FECD9CF7}"/>
              </a:ext>
            </a:extLst>
          </p:cNvPr>
          <p:cNvSpPr txBox="1"/>
          <p:nvPr/>
        </p:nvSpPr>
        <p:spPr>
          <a:xfrm>
            <a:off x="876880" y="1975140"/>
            <a:ext cx="9289670" cy="646331"/>
          </a:xfrm>
          <a:prstGeom prst="rect">
            <a:avLst/>
          </a:prstGeom>
          <a:noFill/>
        </p:spPr>
        <p:txBody>
          <a:bodyPr wrap="square">
            <a:spAutoFit/>
          </a:bodyPr>
          <a:lstStyle/>
          <a:p>
            <a:r>
              <a:rPr lang="en-IN" dirty="0">
                <a:solidFill>
                  <a:srgbClr val="806316"/>
                </a:solidFill>
                <a:latin typeface="Constantia" panose="02030602050306030303" pitchFamily="18" charset="0"/>
              </a:rPr>
              <a:t>1. </a:t>
            </a:r>
            <a:r>
              <a:rPr lang="en-IN" dirty="0" err="1">
                <a:solidFill>
                  <a:srgbClr val="806316"/>
                </a:solidFill>
                <a:latin typeface="Constantia" panose="02030602050306030303" pitchFamily="18" charset="0"/>
              </a:rPr>
              <a:t>Mantere</a:t>
            </a:r>
            <a:r>
              <a:rPr lang="en-IN" dirty="0">
                <a:solidFill>
                  <a:srgbClr val="806316"/>
                </a:solidFill>
                <a:latin typeface="Constantia" panose="02030602050306030303" pitchFamily="18" charset="0"/>
              </a:rPr>
              <a:t> &amp; </a:t>
            </a:r>
            <a:r>
              <a:rPr lang="en-IN" dirty="0" err="1">
                <a:solidFill>
                  <a:srgbClr val="806316"/>
                </a:solidFill>
                <a:latin typeface="Constantia" panose="02030602050306030303" pitchFamily="18" charset="0"/>
              </a:rPr>
              <a:t>Koljonen</a:t>
            </a:r>
            <a:r>
              <a:rPr lang="en-IN" dirty="0">
                <a:solidFill>
                  <a:srgbClr val="806316"/>
                </a:solidFill>
                <a:latin typeface="Constantia" panose="02030602050306030303" pitchFamily="18" charset="0"/>
              </a:rPr>
              <a:t> (2006) </a:t>
            </a:r>
            <a:r>
              <a:rPr lang="en-US" dirty="0">
                <a:solidFill>
                  <a:srgbClr val="806316"/>
                </a:solidFill>
                <a:latin typeface="Constantia" panose="02030602050306030303" pitchFamily="18" charset="0"/>
              </a:rPr>
              <a:t>used a GA with permutation-based encoding, </a:t>
            </a:r>
            <a:r>
              <a:rPr lang="en-US" u="sng" dirty="0">
                <a:solidFill>
                  <a:srgbClr val="806316"/>
                </a:solidFill>
                <a:highlight>
                  <a:srgbClr val="00FFFF"/>
                </a:highlight>
                <a:latin typeface="Constantia" panose="02030602050306030303" pitchFamily="18" charset="0"/>
              </a:rPr>
              <a:t>fitness functions </a:t>
            </a:r>
            <a:r>
              <a:rPr lang="en-US" dirty="0">
                <a:solidFill>
                  <a:srgbClr val="806316"/>
                </a:solidFill>
                <a:latin typeface="Constantia" panose="02030602050306030303" pitchFamily="18" charset="0"/>
              </a:rPr>
              <a:t>based on rule violations, and local search to refine solutions.</a:t>
            </a:r>
            <a:endParaRPr lang="en-IN" dirty="0">
              <a:solidFill>
                <a:srgbClr val="806316"/>
              </a:solidFill>
              <a:latin typeface="Constantia" panose="02030602050306030303" pitchFamily="18" charset="0"/>
            </a:endParaRPr>
          </a:p>
        </p:txBody>
      </p:sp>
      <p:sp>
        <p:nvSpPr>
          <p:cNvPr id="11" name="TextBox 10">
            <a:extLst>
              <a:ext uri="{FF2B5EF4-FFF2-40B4-BE49-F238E27FC236}">
                <a16:creationId xmlns:a16="http://schemas.microsoft.com/office/drawing/2014/main" id="{D8960E41-D4BF-3BBA-A9CA-3911A2556EF9}"/>
              </a:ext>
            </a:extLst>
          </p:cNvPr>
          <p:cNvSpPr txBox="1"/>
          <p:nvPr/>
        </p:nvSpPr>
        <p:spPr>
          <a:xfrm>
            <a:off x="876880" y="2785275"/>
            <a:ext cx="9289670" cy="646331"/>
          </a:xfrm>
          <a:prstGeom prst="rect">
            <a:avLst/>
          </a:prstGeom>
          <a:noFill/>
        </p:spPr>
        <p:txBody>
          <a:bodyPr wrap="square">
            <a:spAutoFit/>
          </a:bodyPr>
          <a:lstStyle/>
          <a:p>
            <a:r>
              <a:rPr lang="en-IN" dirty="0">
                <a:solidFill>
                  <a:srgbClr val="806316"/>
                </a:solidFill>
                <a:latin typeface="Constantia" panose="02030602050306030303" pitchFamily="18" charset="0"/>
              </a:rPr>
              <a:t>2. Lewis (2007) </a:t>
            </a:r>
            <a:r>
              <a:rPr lang="en-US" dirty="0">
                <a:solidFill>
                  <a:srgbClr val="806316"/>
                </a:solidFill>
                <a:latin typeface="Constantia" panose="02030602050306030303" pitchFamily="18" charset="0"/>
              </a:rPr>
              <a:t>applied a hybrid GA with </a:t>
            </a:r>
            <a:r>
              <a:rPr lang="en-US" u="sng" dirty="0">
                <a:solidFill>
                  <a:srgbClr val="806316"/>
                </a:solidFill>
                <a:highlight>
                  <a:srgbClr val="00FFFF"/>
                </a:highlight>
                <a:latin typeface="Constantia" panose="02030602050306030303" pitchFamily="18" charset="0"/>
              </a:rPr>
              <a:t>hill-climbing heuristics </a:t>
            </a:r>
            <a:r>
              <a:rPr lang="en-US" dirty="0">
                <a:solidFill>
                  <a:srgbClr val="806316"/>
                </a:solidFill>
                <a:latin typeface="Constantia" panose="02030602050306030303" pitchFamily="18" charset="0"/>
              </a:rPr>
              <a:t>to enhance solution quality and speed up convergence.</a:t>
            </a:r>
            <a:endParaRPr lang="en-IN" dirty="0">
              <a:solidFill>
                <a:srgbClr val="806316"/>
              </a:solidFill>
              <a:latin typeface="Constantia" panose="02030602050306030303" pitchFamily="18" charset="0"/>
            </a:endParaRPr>
          </a:p>
        </p:txBody>
      </p:sp>
      <p:sp>
        <p:nvSpPr>
          <p:cNvPr id="13" name="TextBox 12">
            <a:extLst>
              <a:ext uri="{FF2B5EF4-FFF2-40B4-BE49-F238E27FC236}">
                <a16:creationId xmlns:a16="http://schemas.microsoft.com/office/drawing/2014/main" id="{6E593F56-7468-A5AA-346D-849A5D95A041}"/>
              </a:ext>
            </a:extLst>
          </p:cNvPr>
          <p:cNvSpPr txBox="1"/>
          <p:nvPr/>
        </p:nvSpPr>
        <p:spPr>
          <a:xfrm>
            <a:off x="876881" y="3595410"/>
            <a:ext cx="9289669" cy="646331"/>
          </a:xfrm>
          <a:prstGeom prst="rect">
            <a:avLst/>
          </a:prstGeom>
          <a:noFill/>
        </p:spPr>
        <p:txBody>
          <a:bodyPr wrap="square">
            <a:spAutoFit/>
          </a:bodyPr>
          <a:lstStyle/>
          <a:p>
            <a:r>
              <a:rPr lang="en-IN" dirty="0">
                <a:solidFill>
                  <a:srgbClr val="806316"/>
                </a:solidFill>
                <a:latin typeface="Constantia" panose="02030602050306030303" pitchFamily="18" charset="0"/>
              </a:rPr>
              <a:t>3. </a:t>
            </a:r>
            <a:r>
              <a:rPr lang="en-IN" dirty="0" err="1">
                <a:solidFill>
                  <a:srgbClr val="806316"/>
                </a:solidFill>
                <a:latin typeface="Constantia" panose="02030602050306030303" pitchFamily="18" charset="0"/>
              </a:rPr>
              <a:t>Sivarama</a:t>
            </a:r>
            <a:r>
              <a:rPr lang="en-IN" dirty="0">
                <a:solidFill>
                  <a:srgbClr val="806316"/>
                </a:solidFill>
                <a:latin typeface="Constantia" panose="02030602050306030303" pitchFamily="18" charset="0"/>
              </a:rPr>
              <a:t> &amp; </a:t>
            </a:r>
            <a:r>
              <a:rPr lang="en-IN" dirty="0" err="1">
                <a:solidFill>
                  <a:srgbClr val="806316"/>
                </a:solidFill>
                <a:latin typeface="Constantia" panose="02030602050306030303" pitchFamily="18" charset="0"/>
              </a:rPr>
              <a:t>Saikia</a:t>
            </a:r>
            <a:r>
              <a:rPr lang="en-IN" dirty="0">
                <a:solidFill>
                  <a:srgbClr val="806316"/>
                </a:solidFill>
                <a:latin typeface="Constantia" panose="02030602050306030303" pitchFamily="18" charset="0"/>
              </a:rPr>
              <a:t> (2010) </a:t>
            </a:r>
            <a:r>
              <a:rPr lang="en-US" dirty="0">
                <a:solidFill>
                  <a:srgbClr val="806316"/>
                </a:solidFill>
                <a:latin typeface="Constantia" panose="02030602050306030303" pitchFamily="18" charset="0"/>
              </a:rPr>
              <a:t>implemented a GA with an adaptive </a:t>
            </a:r>
            <a:r>
              <a:rPr lang="en-US" u="sng" dirty="0">
                <a:solidFill>
                  <a:srgbClr val="806316"/>
                </a:solidFill>
                <a:highlight>
                  <a:srgbClr val="00FFFF"/>
                </a:highlight>
                <a:latin typeface="Constantia" panose="02030602050306030303" pitchFamily="18" charset="0"/>
              </a:rPr>
              <a:t>fitness function and elitism </a:t>
            </a:r>
            <a:r>
              <a:rPr lang="en-US" dirty="0">
                <a:solidFill>
                  <a:srgbClr val="806316"/>
                </a:solidFill>
                <a:latin typeface="Constantia" panose="02030602050306030303" pitchFamily="18" charset="0"/>
              </a:rPr>
              <a:t>to maintain high-quality solutions across generations.</a:t>
            </a:r>
            <a:endParaRPr lang="en-IN" dirty="0">
              <a:solidFill>
                <a:srgbClr val="806316"/>
              </a:solidFill>
              <a:latin typeface="Constantia" panose="02030602050306030303" pitchFamily="18" charset="0"/>
            </a:endParaRPr>
          </a:p>
        </p:txBody>
      </p:sp>
      <p:sp>
        <p:nvSpPr>
          <p:cNvPr id="15" name="TextBox 14">
            <a:extLst>
              <a:ext uri="{FF2B5EF4-FFF2-40B4-BE49-F238E27FC236}">
                <a16:creationId xmlns:a16="http://schemas.microsoft.com/office/drawing/2014/main" id="{CF971B23-6F48-842D-D57C-69D49438196C}"/>
              </a:ext>
            </a:extLst>
          </p:cNvPr>
          <p:cNvSpPr txBox="1"/>
          <p:nvPr/>
        </p:nvSpPr>
        <p:spPr>
          <a:xfrm>
            <a:off x="876880" y="4405545"/>
            <a:ext cx="9289668" cy="646331"/>
          </a:xfrm>
          <a:prstGeom prst="rect">
            <a:avLst/>
          </a:prstGeom>
          <a:noFill/>
        </p:spPr>
        <p:txBody>
          <a:bodyPr wrap="square">
            <a:spAutoFit/>
          </a:bodyPr>
          <a:lstStyle/>
          <a:p>
            <a:r>
              <a:rPr lang="en-IN" dirty="0">
                <a:solidFill>
                  <a:srgbClr val="806316"/>
                </a:solidFill>
                <a:latin typeface="Constantia" panose="02030602050306030303" pitchFamily="18" charset="0"/>
              </a:rPr>
              <a:t>4. Chakraborty &amp; </a:t>
            </a:r>
            <a:r>
              <a:rPr lang="en-IN" dirty="0" err="1">
                <a:solidFill>
                  <a:srgbClr val="806316"/>
                </a:solidFill>
                <a:latin typeface="Constantia" panose="02030602050306030303" pitchFamily="18" charset="0"/>
              </a:rPr>
              <a:t>Pohlheim</a:t>
            </a:r>
            <a:r>
              <a:rPr lang="en-IN" dirty="0">
                <a:solidFill>
                  <a:srgbClr val="806316"/>
                </a:solidFill>
                <a:latin typeface="Constantia" panose="02030602050306030303" pitchFamily="18" charset="0"/>
              </a:rPr>
              <a:t> (2011) </a:t>
            </a:r>
            <a:r>
              <a:rPr lang="en-US" dirty="0">
                <a:solidFill>
                  <a:srgbClr val="806316"/>
                </a:solidFill>
                <a:latin typeface="Constantia" panose="02030602050306030303" pitchFamily="18" charset="0"/>
              </a:rPr>
              <a:t>used constraint-based genetic operators and </a:t>
            </a:r>
            <a:r>
              <a:rPr lang="en-US" u="sng" dirty="0">
                <a:solidFill>
                  <a:srgbClr val="806316"/>
                </a:solidFill>
                <a:highlight>
                  <a:srgbClr val="00FFFF"/>
                </a:highlight>
                <a:latin typeface="Constantia" panose="02030602050306030303" pitchFamily="18" charset="0"/>
              </a:rPr>
              <a:t>hybridized GA </a:t>
            </a:r>
            <a:r>
              <a:rPr lang="en-US" dirty="0">
                <a:solidFill>
                  <a:srgbClr val="806316"/>
                </a:solidFill>
                <a:latin typeface="Constantia" panose="02030602050306030303" pitchFamily="18" charset="0"/>
              </a:rPr>
              <a:t>with constraint satisfaction techniques to improve efficiency.</a:t>
            </a:r>
            <a:endParaRPr lang="en-IN" dirty="0">
              <a:solidFill>
                <a:srgbClr val="806316"/>
              </a:solidFill>
              <a:latin typeface="Constantia" panose="02030602050306030303" pitchFamily="18" charset="0"/>
            </a:endParaRPr>
          </a:p>
        </p:txBody>
      </p:sp>
      <p:sp>
        <p:nvSpPr>
          <p:cNvPr id="17" name="TextBox 16">
            <a:extLst>
              <a:ext uri="{FF2B5EF4-FFF2-40B4-BE49-F238E27FC236}">
                <a16:creationId xmlns:a16="http://schemas.microsoft.com/office/drawing/2014/main" id="{9BEC4FF6-782F-E108-3507-F52F26BA10CE}"/>
              </a:ext>
            </a:extLst>
          </p:cNvPr>
          <p:cNvSpPr txBox="1"/>
          <p:nvPr/>
        </p:nvSpPr>
        <p:spPr>
          <a:xfrm>
            <a:off x="876879" y="5215680"/>
            <a:ext cx="9289667" cy="646331"/>
          </a:xfrm>
          <a:prstGeom prst="rect">
            <a:avLst/>
          </a:prstGeom>
          <a:noFill/>
        </p:spPr>
        <p:txBody>
          <a:bodyPr wrap="square">
            <a:spAutoFit/>
          </a:bodyPr>
          <a:lstStyle/>
          <a:p>
            <a:r>
              <a:rPr lang="en-IN" dirty="0">
                <a:solidFill>
                  <a:srgbClr val="806316"/>
                </a:solidFill>
                <a:latin typeface="Constantia" panose="02030602050306030303" pitchFamily="18" charset="0"/>
              </a:rPr>
              <a:t>5. Pereira, Tavares, &amp; Machado (2013) </a:t>
            </a:r>
            <a:r>
              <a:rPr lang="en-US" dirty="0">
                <a:solidFill>
                  <a:srgbClr val="806316"/>
                </a:solidFill>
                <a:latin typeface="Constantia" panose="02030602050306030303" pitchFamily="18" charset="0"/>
              </a:rPr>
              <a:t>developed a </a:t>
            </a:r>
            <a:r>
              <a:rPr lang="en-US" u="sng" dirty="0">
                <a:solidFill>
                  <a:srgbClr val="806316"/>
                </a:solidFill>
                <a:highlight>
                  <a:srgbClr val="00FFFF"/>
                </a:highlight>
                <a:latin typeface="Constantia" panose="02030602050306030303" pitchFamily="18" charset="0"/>
              </a:rPr>
              <a:t>co-evolutionary GA</a:t>
            </a:r>
            <a:r>
              <a:rPr lang="en-US" u="sng" dirty="0">
                <a:solidFill>
                  <a:srgbClr val="806316"/>
                </a:solidFill>
                <a:latin typeface="Constantia" panose="02030602050306030303" pitchFamily="18" charset="0"/>
              </a:rPr>
              <a:t> </a:t>
            </a:r>
            <a:r>
              <a:rPr lang="en-US" dirty="0">
                <a:solidFill>
                  <a:srgbClr val="806316"/>
                </a:solidFill>
                <a:latin typeface="Constantia" panose="02030602050306030303" pitchFamily="18" charset="0"/>
              </a:rPr>
              <a:t>that evolves Sudoku grids and solution strategies simultaneously.</a:t>
            </a:r>
            <a:endParaRPr lang="en-IN" dirty="0">
              <a:solidFill>
                <a:srgbClr val="806316"/>
              </a:solidFill>
              <a:latin typeface="Constantia" panose="0203060205030603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2929" y="1209368"/>
            <a:ext cx="184731" cy="369332"/>
          </a:xfrm>
          <a:prstGeom prst="rect">
            <a:avLst/>
          </a:prstGeom>
          <a:noFill/>
        </p:spPr>
        <p:txBody>
          <a:bodyPr wrap="none" rtlCol="0">
            <a:spAutoFit/>
          </a:bodyPr>
          <a:lstStyle/>
          <a:p>
            <a:endParaRPr lang="en-IN" dirty="0"/>
          </a:p>
        </p:txBody>
      </p:sp>
      <p:sp>
        <p:nvSpPr>
          <p:cNvPr id="5" name="TextBox 4"/>
          <p:cNvSpPr txBox="1"/>
          <p:nvPr/>
        </p:nvSpPr>
        <p:spPr>
          <a:xfrm>
            <a:off x="1112858" y="1394174"/>
            <a:ext cx="3935373" cy="646331"/>
          </a:xfrm>
          <a:prstGeom prst="rect">
            <a:avLst/>
          </a:prstGeom>
          <a:noFill/>
        </p:spPr>
        <p:txBody>
          <a:bodyPr wrap="none" rtlCol="0">
            <a:spAutoFit/>
          </a:bodyPr>
          <a:lstStyle/>
          <a:p>
            <a:r>
              <a:rPr lang="en-IN" sz="3600" b="1" dirty="0"/>
              <a:t>Problem Statement</a:t>
            </a:r>
            <a:endParaRPr lang="en-IN" sz="2000" b="1" dirty="0"/>
          </a:p>
        </p:txBody>
      </p:sp>
      <p:sp>
        <p:nvSpPr>
          <p:cNvPr id="4" name="TextBox 3">
            <a:extLst>
              <a:ext uri="{FF2B5EF4-FFF2-40B4-BE49-F238E27FC236}">
                <a16:creationId xmlns:a16="http://schemas.microsoft.com/office/drawing/2014/main" id="{BD0F4F6C-9BD0-2550-291D-7645A41CA60D}"/>
              </a:ext>
            </a:extLst>
          </p:cNvPr>
          <p:cNvSpPr txBox="1"/>
          <p:nvPr/>
        </p:nvSpPr>
        <p:spPr>
          <a:xfrm>
            <a:off x="1112858" y="2171227"/>
            <a:ext cx="5376432" cy="2862322"/>
          </a:xfrm>
          <a:prstGeom prst="rect">
            <a:avLst/>
          </a:prstGeom>
          <a:noFill/>
        </p:spPr>
        <p:txBody>
          <a:bodyPr wrap="square">
            <a:spAutoFit/>
          </a:bodyPr>
          <a:lstStyle/>
          <a:p>
            <a:r>
              <a:rPr lang="en-US" sz="2000" dirty="0">
                <a:solidFill>
                  <a:srgbClr val="806316"/>
                </a:solidFill>
                <a:latin typeface="Constantia" panose="02030602050306030303" pitchFamily="18" charset="0"/>
              </a:rPr>
              <a:t>The standard approach to computer-based Sudoku solvers is a generate-and-test solution using backtracking. This strategy works extremely well for smaller grid sizes (including the standard 9x9 grid configuration), but becomes computationally intractable for larger sizes. In fact, the general problem of solving </a:t>
            </a:r>
            <a:r>
              <a:rPr lang="en-US" sz="2000" dirty="0" err="1">
                <a:solidFill>
                  <a:srgbClr val="806316"/>
                </a:solidFill>
                <a:latin typeface="Constantia" panose="02030602050306030303" pitchFamily="18" charset="0"/>
              </a:rPr>
              <a:t>NxN</a:t>
            </a:r>
            <a:r>
              <a:rPr lang="en-US" sz="2000" dirty="0">
                <a:solidFill>
                  <a:srgbClr val="806316"/>
                </a:solidFill>
                <a:latin typeface="Constantia" panose="02030602050306030303" pitchFamily="18" charset="0"/>
              </a:rPr>
              <a:t> Sudoku puzzles is known to be NP-complete.</a:t>
            </a:r>
            <a:endParaRPr lang="en-IN" sz="2000" dirty="0">
              <a:solidFill>
                <a:srgbClr val="806316"/>
              </a:solidFill>
              <a:latin typeface="Constantia" panose="02030602050306030303" pitchFamily="18" charset="0"/>
            </a:endParaRPr>
          </a:p>
        </p:txBody>
      </p:sp>
      <p:pic>
        <p:nvPicPr>
          <p:cNvPr id="1026" name="Picture 2" descr="Problem Statement Images – Browse 32,266 Stock Photos, Vectors, and Video |  Adobe Stock">
            <a:extLst>
              <a:ext uri="{FF2B5EF4-FFF2-40B4-BE49-F238E27FC236}">
                <a16:creationId xmlns:a16="http://schemas.microsoft.com/office/drawing/2014/main" id="{8C1A1E4C-BE01-66BC-0642-0517AC0F6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826" y="2040505"/>
            <a:ext cx="4165485" cy="2776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27715" y="1372119"/>
            <a:ext cx="2116726" cy="646331"/>
          </a:xfrm>
          <a:prstGeom prst="rect">
            <a:avLst/>
          </a:prstGeom>
          <a:noFill/>
        </p:spPr>
        <p:txBody>
          <a:bodyPr wrap="square">
            <a:spAutoFit/>
          </a:bodyPr>
          <a:lstStyle/>
          <a:p>
            <a:pPr lvl="0">
              <a:defRPr/>
            </a:pPr>
            <a:r>
              <a:rPr lang="en-US" sz="3600" b="1" dirty="0"/>
              <a:t>Objective</a:t>
            </a:r>
            <a:endParaRPr lang="en-IN" sz="2000" dirty="0">
              <a:solidFill>
                <a:schemeClr val="tx1">
                  <a:lumMod val="65000"/>
                  <a:lumOff val="35000"/>
                </a:schemeClr>
              </a:solidFill>
            </a:endParaRPr>
          </a:p>
        </p:txBody>
      </p:sp>
      <p:sp>
        <p:nvSpPr>
          <p:cNvPr id="3" name="Rectangle 1">
            <a:extLst>
              <a:ext uri="{FF2B5EF4-FFF2-40B4-BE49-F238E27FC236}">
                <a16:creationId xmlns:a16="http://schemas.microsoft.com/office/drawing/2014/main" id="{0A148B3D-748B-DF8A-A9DD-1D3B1705530C}"/>
              </a:ext>
            </a:extLst>
          </p:cNvPr>
          <p:cNvSpPr>
            <a:spLocks noChangeArrowheads="1"/>
          </p:cNvSpPr>
          <p:nvPr/>
        </p:nvSpPr>
        <p:spPr bwMode="auto">
          <a:xfrm>
            <a:off x="1027715" y="2097108"/>
            <a:ext cx="56958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rgbClr val="806316"/>
                </a:solidFill>
                <a:effectLst/>
                <a:latin typeface="Constantia" panose="02030602050306030303" pitchFamily="18" charset="0"/>
              </a:rPr>
              <a:t>The objective of this project is to develop a Genetic Algorithm (GA)-based approach to solving Sudoku puzzles by evolving potential solutions through selection, crossover, and mutation. The GA operates on an initial population of randomly generated solutions, refining them iteratively using a fitness function that minimizes rule violations. The aim is to achieve a complete and valid Sudoku solution while analyzing the efficiency and limitations of GAs in solving such constraint-based combinatorial problems.</a:t>
            </a:r>
          </a:p>
        </p:txBody>
      </p:sp>
      <p:pic>
        <p:nvPicPr>
          <p:cNvPr id="2050" name="Picture 2" descr="A Day in the Life of a Learning Objective – Chief Learning Officer">
            <a:extLst>
              <a:ext uri="{FF2B5EF4-FFF2-40B4-BE49-F238E27FC236}">
                <a16:creationId xmlns:a16="http://schemas.microsoft.com/office/drawing/2014/main" id="{85BEA37E-5307-E0CC-2042-6BF8CE42B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9171" y="2197470"/>
            <a:ext cx="4324843" cy="26757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31973" y="719240"/>
            <a:ext cx="4128053" cy="646331"/>
          </a:xfrm>
          <a:prstGeom prst="rect">
            <a:avLst/>
          </a:prstGeom>
          <a:noFill/>
        </p:spPr>
        <p:txBody>
          <a:bodyPr wrap="none" rtlCol="0">
            <a:spAutoFit/>
          </a:bodyPr>
          <a:lstStyle/>
          <a:p>
            <a:r>
              <a:rPr lang="en-US" sz="3600" b="1" dirty="0"/>
              <a:t>BLOCK DIAGRAM</a:t>
            </a:r>
            <a:endParaRPr lang="en-IN" sz="2000" b="1" dirty="0"/>
          </a:p>
        </p:txBody>
      </p:sp>
      <p:pic>
        <p:nvPicPr>
          <p:cNvPr id="3" name="Picture 2">
            <a:extLst>
              <a:ext uri="{FF2B5EF4-FFF2-40B4-BE49-F238E27FC236}">
                <a16:creationId xmlns:a16="http://schemas.microsoft.com/office/drawing/2014/main" id="{FB287DFB-A891-EDC3-368D-EF1398F35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2860" y="1493391"/>
            <a:ext cx="6606280" cy="45352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BADC-925E-44D6-40B8-713C016179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88708B-98E4-EF28-08E5-0176EFACD0FF}"/>
              </a:ext>
            </a:extLst>
          </p:cNvPr>
          <p:cNvSpPr txBox="1"/>
          <p:nvPr/>
        </p:nvSpPr>
        <p:spPr>
          <a:xfrm>
            <a:off x="4299037" y="981433"/>
            <a:ext cx="3344185" cy="646331"/>
          </a:xfrm>
          <a:prstGeom prst="rect">
            <a:avLst/>
          </a:prstGeom>
          <a:noFill/>
        </p:spPr>
        <p:txBody>
          <a:bodyPr wrap="none" rtlCol="0">
            <a:spAutoFit/>
          </a:bodyPr>
          <a:lstStyle/>
          <a:p>
            <a:pPr algn="ctr"/>
            <a:r>
              <a:rPr lang="en-US" sz="3600" b="1" dirty="0"/>
              <a:t>Implementation</a:t>
            </a:r>
            <a:endParaRPr lang="en-IN" sz="2000" b="1" dirty="0"/>
          </a:p>
        </p:txBody>
      </p:sp>
      <p:graphicFrame>
        <p:nvGraphicFramePr>
          <p:cNvPr id="6" name="Table 5">
            <a:extLst>
              <a:ext uri="{FF2B5EF4-FFF2-40B4-BE49-F238E27FC236}">
                <a16:creationId xmlns:a16="http://schemas.microsoft.com/office/drawing/2014/main" id="{DED262FC-C1D5-773E-6F98-33F96A2EF87C}"/>
              </a:ext>
            </a:extLst>
          </p:cNvPr>
          <p:cNvGraphicFramePr>
            <a:graphicFrameLocks noGrp="1"/>
          </p:cNvGraphicFramePr>
          <p:nvPr>
            <p:extLst>
              <p:ext uri="{D42A27DB-BD31-4B8C-83A1-F6EECF244321}">
                <p14:modId xmlns:p14="http://schemas.microsoft.com/office/powerpoint/2010/main" val="615899278"/>
              </p:ext>
            </p:extLst>
          </p:nvPr>
        </p:nvGraphicFramePr>
        <p:xfrm>
          <a:off x="1457139" y="1934989"/>
          <a:ext cx="9027980" cy="3200400"/>
        </p:xfrm>
        <a:graphic>
          <a:graphicData uri="http://schemas.openxmlformats.org/drawingml/2006/table">
            <a:tbl>
              <a:tblPr firstRow="1" bandRow="1">
                <a:tableStyleId>{5C22544A-7EE6-4342-B048-85BDC9FD1C3A}</a:tableStyleId>
              </a:tblPr>
              <a:tblGrid>
                <a:gridCol w="4513990">
                  <a:extLst>
                    <a:ext uri="{9D8B030D-6E8A-4147-A177-3AD203B41FA5}">
                      <a16:colId xmlns:a16="http://schemas.microsoft.com/office/drawing/2014/main" val="3578877114"/>
                    </a:ext>
                  </a:extLst>
                </a:gridCol>
                <a:gridCol w="4513990">
                  <a:extLst>
                    <a:ext uri="{9D8B030D-6E8A-4147-A177-3AD203B41FA5}">
                      <a16:colId xmlns:a16="http://schemas.microsoft.com/office/drawing/2014/main" val="1520261009"/>
                    </a:ext>
                  </a:extLst>
                </a:gridCol>
              </a:tblGrid>
              <a:tr h="365760">
                <a:tc>
                  <a:txBody>
                    <a:bodyPr/>
                    <a:lstStyle/>
                    <a:p>
                      <a:pPr algn="ctr"/>
                      <a:r>
                        <a:rPr lang="en-US" dirty="0"/>
                        <a:t>Tools &amp; Libraries</a:t>
                      </a:r>
                      <a:endParaRPr lang="en-IN" dirty="0"/>
                    </a:p>
                  </a:txBody>
                  <a:tcPr/>
                </a:tc>
                <a:tc>
                  <a:txBody>
                    <a:bodyPr/>
                    <a:lstStyle/>
                    <a:p>
                      <a:pPr algn="ctr"/>
                      <a:r>
                        <a:rPr lang="en-US" dirty="0"/>
                        <a:t>Dataset </a:t>
                      </a:r>
                      <a:endParaRPr lang="en-IN" dirty="0"/>
                    </a:p>
                  </a:txBody>
                  <a:tcPr/>
                </a:tc>
                <a:extLst>
                  <a:ext uri="{0D108BD9-81ED-4DB2-BD59-A6C34878D82A}">
                    <a16:rowId xmlns:a16="http://schemas.microsoft.com/office/drawing/2014/main" val="3117737511"/>
                  </a:ext>
                </a:extLst>
              </a:tr>
              <a:tr h="2532586">
                <a:tc>
                  <a:txBody>
                    <a:bodyPr/>
                    <a:lstStyle/>
                    <a:p>
                      <a:r>
                        <a:rPr lang="en-US" sz="2000" dirty="0"/>
                        <a:t>The Sudoku Solver is implemented in Python, utilizing libraries such as NumPy for efficient grid and matrix operations, and the built-in random module to handle the genetic processes like selection, crossover, and mutation. These tools allow the algorithm to simulate evolution over a population of candidate Sudoku solutions.</a:t>
                      </a:r>
                      <a:endParaRPr lang="en-IN" sz="2000" dirty="0"/>
                    </a:p>
                  </a:txBody>
                  <a:tcPr/>
                </a:tc>
                <a:tc>
                  <a:txBody>
                    <a:bodyPr/>
                    <a:lstStyle/>
                    <a:p>
                      <a:r>
                        <a:rPr lang="en-US" sz="2000" dirty="0"/>
                        <a:t>There is no need for an external dataset, as the puzzle is directly provided by the user in the form of a 9x9 grid. This grid includes some pre-filled values while blank cells are indicated using hyphens or zeros. The flexibility of user input makes the program suitable for solving a wide variety of custom Sudoku puzzles.</a:t>
                      </a:r>
                      <a:endParaRPr lang="en-IN" sz="2000" dirty="0"/>
                    </a:p>
                    <a:p>
                      <a:endParaRPr lang="en-IN" sz="2000" dirty="0"/>
                    </a:p>
                  </a:txBody>
                  <a:tcPr/>
                </a:tc>
                <a:extLst>
                  <a:ext uri="{0D108BD9-81ED-4DB2-BD59-A6C34878D82A}">
                    <a16:rowId xmlns:a16="http://schemas.microsoft.com/office/drawing/2014/main" val="1740590097"/>
                  </a:ext>
                </a:extLst>
              </a:tr>
            </a:tbl>
          </a:graphicData>
        </a:graphic>
      </p:graphicFrame>
    </p:spTree>
    <p:extLst>
      <p:ext uri="{BB962C8B-B14F-4D97-AF65-F5344CB8AC3E}">
        <p14:creationId xmlns:p14="http://schemas.microsoft.com/office/powerpoint/2010/main" val="2118231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0A4EBAC-740E-34F2-0968-100FE615DDEE}"/>
              </a:ext>
            </a:extLst>
          </p:cNvPr>
          <p:cNvGraphicFramePr>
            <a:graphicFrameLocks noGrp="1"/>
          </p:cNvGraphicFramePr>
          <p:nvPr>
            <p:extLst>
              <p:ext uri="{D42A27DB-BD31-4B8C-83A1-F6EECF244321}">
                <p14:modId xmlns:p14="http://schemas.microsoft.com/office/powerpoint/2010/main" val="980695693"/>
              </p:ext>
            </p:extLst>
          </p:nvPr>
        </p:nvGraphicFramePr>
        <p:xfrm>
          <a:off x="1076796" y="1579885"/>
          <a:ext cx="10038408" cy="4453201"/>
        </p:xfrm>
        <a:graphic>
          <a:graphicData uri="http://schemas.openxmlformats.org/drawingml/2006/table">
            <a:tbl>
              <a:tblPr firstRow="1" bandRow="1">
                <a:tableStyleId>{5C22544A-7EE6-4342-B048-85BDC9FD1C3A}</a:tableStyleId>
              </a:tblPr>
              <a:tblGrid>
                <a:gridCol w="5030068">
                  <a:extLst>
                    <a:ext uri="{9D8B030D-6E8A-4147-A177-3AD203B41FA5}">
                      <a16:colId xmlns:a16="http://schemas.microsoft.com/office/drawing/2014/main" val="1385675961"/>
                    </a:ext>
                  </a:extLst>
                </a:gridCol>
                <a:gridCol w="5008340">
                  <a:extLst>
                    <a:ext uri="{9D8B030D-6E8A-4147-A177-3AD203B41FA5}">
                      <a16:colId xmlns:a16="http://schemas.microsoft.com/office/drawing/2014/main" val="1551476738"/>
                    </a:ext>
                  </a:extLst>
                </a:gridCol>
              </a:tblGrid>
              <a:tr h="399361">
                <a:tc>
                  <a:txBody>
                    <a:bodyPr/>
                    <a:lstStyle/>
                    <a:p>
                      <a:pPr algn="ctr"/>
                      <a:r>
                        <a:rPr lang="en-US" dirty="0"/>
                        <a:t>Model Architecture</a:t>
                      </a:r>
                      <a:endParaRPr lang="en-IN" dirty="0"/>
                    </a:p>
                  </a:txBody>
                  <a:tcPr/>
                </a:tc>
                <a:tc>
                  <a:txBody>
                    <a:bodyPr/>
                    <a:lstStyle/>
                    <a:p>
                      <a:pPr algn="ctr"/>
                      <a:r>
                        <a:rPr lang="en-US" dirty="0"/>
                        <a:t>Training Process</a:t>
                      </a:r>
                      <a:endParaRPr lang="en-IN" dirty="0"/>
                    </a:p>
                  </a:txBody>
                  <a:tcPr/>
                </a:tc>
                <a:extLst>
                  <a:ext uri="{0D108BD9-81ED-4DB2-BD59-A6C34878D82A}">
                    <a16:rowId xmlns:a16="http://schemas.microsoft.com/office/drawing/2014/main" val="3574730478"/>
                  </a:ext>
                </a:extLst>
              </a:tr>
              <a:tr h="3766894">
                <a:tc>
                  <a:txBody>
                    <a:bodyPr/>
                    <a:lstStyle/>
                    <a:p>
                      <a:r>
                        <a:rPr lang="en-US" sz="2000" dirty="0"/>
                        <a:t>The core architecture of the model follows the structure of a Genetic Algorithm. It begins by generating an initial population of candidate solutions that respect the fixed values from the input. Each individual is then evaluated using a fitness function, which measures the number of conflicts (duplicate digits) in rows, columns, and 3x3 </a:t>
                      </a:r>
                      <a:r>
                        <a:rPr lang="en-US" sz="2000" dirty="0" err="1"/>
                        <a:t>subgrids</a:t>
                      </a:r>
                      <a:r>
                        <a:rPr lang="en-US" sz="2000" dirty="0"/>
                        <a:t>. Based on these fitness scores, the algorithm selects the fittest individuals to serve as parents. Through crossover, parts of these parent grids are combined to form new offspring, and mutation is applied to introduce variation and prevent premature convergence</a:t>
                      </a:r>
                      <a:r>
                        <a:rPr lang="en-US" dirty="0"/>
                        <a: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t>The algorithm runs in cycles, known as generations. In each generation, the population is updated by evaluating fitness, selecting parents, generating offspring, and optionally retaining the best-performing individuals through elitism. This evolutionary process continues until a valid solution (with zero fitness score) is found or a maximum number of generations is reached, at which point the final solution is printed.</a:t>
                      </a:r>
                    </a:p>
                    <a:p>
                      <a:endParaRPr lang="en-IN" dirty="0"/>
                    </a:p>
                  </a:txBody>
                  <a:tcPr/>
                </a:tc>
                <a:extLst>
                  <a:ext uri="{0D108BD9-81ED-4DB2-BD59-A6C34878D82A}">
                    <a16:rowId xmlns:a16="http://schemas.microsoft.com/office/drawing/2014/main" val="482526615"/>
                  </a:ext>
                </a:extLst>
              </a:tr>
            </a:tbl>
          </a:graphicData>
        </a:graphic>
      </p:graphicFrame>
      <p:sp>
        <p:nvSpPr>
          <p:cNvPr id="4" name="TextBox 3">
            <a:extLst>
              <a:ext uri="{FF2B5EF4-FFF2-40B4-BE49-F238E27FC236}">
                <a16:creationId xmlns:a16="http://schemas.microsoft.com/office/drawing/2014/main" id="{E316EC58-0C12-AA4E-9146-835FC15D0FFB}"/>
              </a:ext>
            </a:extLst>
          </p:cNvPr>
          <p:cNvSpPr txBox="1"/>
          <p:nvPr/>
        </p:nvSpPr>
        <p:spPr>
          <a:xfrm>
            <a:off x="4309197" y="823918"/>
            <a:ext cx="3344185" cy="646331"/>
          </a:xfrm>
          <a:prstGeom prst="rect">
            <a:avLst/>
          </a:prstGeom>
          <a:noFill/>
        </p:spPr>
        <p:txBody>
          <a:bodyPr wrap="none" rtlCol="0">
            <a:spAutoFit/>
          </a:bodyPr>
          <a:lstStyle/>
          <a:p>
            <a:pPr algn="ctr"/>
            <a:r>
              <a:rPr lang="en-US" sz="3600" b="1" dirty="0"/>
              <a:t>Implementation</a:t>
            </a:r>
            <a:endParaRPr lang="en-IN" sz="2000" b="1" dirty="0"/>
          </a:p>
        </p:txBody>
      </p:sp>
    </p:spTree>
    <p:extLst>
      <p:ext uri="{BB962C8B-B14F-4D97-AF65-F5344CB8AC3E}">
        <p14:creationId xmlns:p14="http://schemas.microsoft.com/office/powerpoint/2010/main" val="2079795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2F1FE-26D6-EDE1-85A7-A0552120A0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BA077C-4208-2AE7-ACDB-86EEB9E89626}"/>
              </a:ext>
            </a:extLst>
          </p:cNvPr>
          <p:cNvSpPr txBox="1"/>
          <p:nvPr/>
        </p:nvSpPr>
        <p:spPr>
          <a:xfrm>
            <a:off x="4844567" y="874133"/>
            <a:ext cx="2502866" cy="584775"/>
          </a:xfrm>
          <a:prstGeom prst="rect">
            <a:avLst/>
          </a:prstGeom>
          <a:noFill/>
        </p:spPr>
        <p:txBody>
          <a:bodyPr wrap="none" rtlCol="0">
            <a:spAutoFit/>
          </a:bodyPr>
          <a:lstStyle/>
          <a:p>
            <a:pPr algn="ctr"/>
            <a:r>
              <a:rPr lang="en-US" sz="3200" b="1" dirty="0"/>
              <a:t>Methodology</a:t>
            </a:r>
            <a:endParaRPr lang="en-IN" sz="3200" b="1" dirty="0"/>
          </a:p>
        </p:txBody>
      </p:sp>
      <p:pic>
        <p:nvPicPr>
          <p:cNvPr id="5" name="Picture 4" descr="A group of squares with red and black numbers&#10;&#10;AI-generated content may be incorrect.">
            <a:extLst>
              <a:ext uri="{FF2B5EF4-FFF2-40B4-BE49-F238E27FC236}">
                <a16:creationId xmlns:a16="http://schemas.microsoft.com/office/drawing/2014/main" id="{F18EC224-A07C-CC06-9879-9204D9E4D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022" y="2132241"/>
            <a:ext cx="5290797" cy="3359849"/>
          </a:xfrm>
          <a:prstGeom prst="rect">
            <a:avLst/>
          </a:prstGeom>
        </p:spPr>
      </p:pic>
      <p:pic>
        <p:nvPicPr>
          <p:cNvPr id="7" name="Picture 6" descr="A diagram of a multicolored grid&#10;&#10;AI-generated content may be incorrect.">
            <a:extLst>
              <a:ext uri="{FF2B5EF4-FFF2-40B4-BE49-F238E27FC236}">
                <a16:creationId xmlns:a16="http://schemas.microsoft.com/office/drawing/2014/main" id="{3F1F06B5-2E7D-14A1-7753-C05D86C90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7270" y="2264485"/>
            <a:ext cx="4348972" cy="3056034"/>
          </a:xfrm>
          <a:prstGeom prst="rect">
            <a:avLst/>
          </a:prstGeom>
        </p:spPr>
      </p:pic>
    </p:spTree>
    <p:extLst>
      <p:ext uri="{BB962C8B-B14F-4D97-AF65-F5344CB8AC3E}">
        <p14:creationId xmlns:p14="http://schemas.microsoft.com/office/powerpoint/2010/main" val="740522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EE78-F54A-97E8-775B-402AC3CC3A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FCA17B-DF93-0C59-87CA-CD127B78FDC4}"/>
              </a:ext>
            </a:extLst>
          </p:cNvPr>
          <p:cNvSpPr txBox="1"/>
          <p:nvPr/>
        </p:nvSpPr>
        <p:spPr>
          <a:xfrm>
            <a:off x="1095692" y="869673"/>
            <a:ext cx="1622880" cy="646331"/>
          </a:xfrm>
          <a:prstGeom prst="rect">
            <a:avLst/>
          </a:prstGeom>
          <a:noFill/>
        </p:spPr>
        <p:txBody>
          <a:bodyPr wrap="none" rtlCol="0">
            <a:spAutoFit/>
          </a:bodyPr>
          <a:lstStyle/>
          <a:p>
            <a:pPr algn="ctr"/>
            <a:r>
              <a:rPr lang="en-US" sz="3600" b="1" dirty="0"/>
              <a:t>Results</a:t>
            </a:r>
            <a:endParaRPr lang="en-IN" sz="2000" b="1" dirty="0"/>
          </a:p>
        </p:txBody>
      </p:sp>
      <p:pic>
        <p:nvPicPr>
          <p:cNvPr id="4" name="Picture 3">
            <a:extLst>
              <a:ext uri="{FF2B5EF4-FFF2-40B4-BE49-F238E27FC236}">
                <a16:creationId xmlns:a16="http://schemas.microsoft.com/office/drawing/2014/main" id="{09378E1D-8A00-5A0A-037A-E075FB2A6C14}"/>
              </a:ext>
            </a:extLst>
          </p:cNvPr>
          <p:cNvPicPr>
            <a:picLocks noChangeAspect="1"/>
          </p:cNvPicPr>
          <p:nvPr/>
        </p:nvPicPr>
        <p:blipFill>
          <a:blip r:embed="rId2"/>
          <a:stretch>
            <a:fillRect/>
          </a:stretch>
        </p:blipFill>
        <p:spPr>
          <a:xfrm>
            <a:off x="837510" y="1563597"/>
            <a:ext cx="5982840" cy="4424730"/>
          </a:xfrm>
          <a:prstGeom prst="rect">
            <a:avLst/>
          </a:prstGeom>
        </p:spPr>
      </p:pic>
      <p:pic>
        <p:nvPicPr>
          <p:cNvPr id="7" name="Picture 6">
            <a:extLst>
              <a:ext uri="{FF2B5EF4-FFF2-40B4-BE49-F238E27FC236}">
                <a16:creationId xmlns:a16="http://schemas.microsoft.com/office/drawing/2014/main" id="{2F0B0EA4-816F-D064-79A7-3B1667B2329F}"/>
              </a:ext>
            </a:extLst>
          </p:cNvPr>
          <p:cNvPicPr>
            <a:picLocks noChangeAspect="1"/>
          </p:cNvPicPr>
          <p:nvPr/>
        </p:nvPicPr>
        <p:blipFill>
          <a:blip r:embed="rId3"/>
          <a:stretch>
            <a:fillRect/>
          </a:stretch>
        </p:blipFill>
        <p:spPr>
          <a:xfrm>
            <a:off x="6970823" y="2142196"/>
            <a:ext cx="4286848" cy="3267531"/>
          </a:xfrm>
          <a:prstGeom prst="rect">
            <a:avLst/>
          </a:prstGeom>
        </p:spPr>
      </p:pic>
    </p:spTree>
    <p:extLst>
      <p:ext uri="{BB962C8B-B14F-4D97-AF65-F5344CB8AC3E}">
        <p14:creationId xmlns:p14="http://schemas.microsoft.com/office/powerpoint/2010/main" val="252350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A450F4-7223-EC8D-9D9A-5B8F9FF16118}"/>
              </a:ext>
            </a:extLst>
          </p:cNvPr>
          <p:cNvSpPr txBox="1"/>
          <p:nvPr/>
        </p:nvSpPr>
        <p:spPr>
          <a:xfrm>
            <a:off x="1095692" y="869673"/>
            <a:ext cx="1622880" cy="646331"/>
          </a:xfrm>
          <a:prstGeom prst="rect">
            <a:avLst/>
          </a:prstGeom>
          <a:noFill/>
        </p:spPr>
        <p:txBody>
          <a:bodyPr wrap="none" rtlCol="0">
            <a:spAutoFit/>
          </a:bodyPr>
          <a:lstStyle/>
          <a:p>
            <a:pPr algn="ctr"/>
            <a:r>
              <a:rPr lang="en-US" sz="3600" b="1" dirty="0"/>
              <a:t>Results</a:t>
            </a:r>
            <a:endParaRPr lang="en-IN" sz="2000" b="1" dirty="0"/>
          </a:p>
        </p:txBody>
      </p:sp>
      <p:pic>
        <p:nvPicPr>
          <p:cNvPr id="6" name="Picture 5">
            <a:extLst>
              <a:ext uri="{FF2B5EF4-FFF2-40B4-BE49-F238E27FC236}">
                <a16:creationId xmlns:a16="http://schemas.microsoft.com/office/drawing/2014/main" id="{350FFF1B-1E81-E08C-784C-CB2B47A619FF}"/>
              </a:ext>
            </a:extLst>
          </p:cNvPr>
          <p:cNvPicPr>
            <a:picLocks noChangeAspect="1"/>
          </p:cNvPicPr>
          <p:nvPr/>
        </p:nvPicPr>
        <p:blipFill>
          <a:blip r:embed="rId2"/>
          <a:stretch>
            <a:fillRect/>
          </a:stretch>
        </p:blipFill>
        <p:spPr>
          <a:xfrm>
            <a:off x="4418995" y="1843830"/>
            <a:ext cx="6918755" cy="3882974"/>
          </a:xfrm>
          <a:prstGeom prst="rect">
            <a:avLst/>
          </a:prstGeom>
        </p:spPr>
      </p:pic>
      <p:pic>
        <p:nvPicPr>
          <p:cNvPr id="4" name="Picture 3">
            <a:extLst>
              <a:ext uri="{FF2B5EF4-FFF2-40B4-BE49-F238E27FC236}">
                <a16:creationId xmlns:a16="http://schemas.microsoft.com/office/drawing/2014/main" id="{9A2E2A4B-2D37-55E0-41BC-00F1CC8EB103}"/>
              </a:ext>
            </a:extLst>
          </p:cNvPr>
          <p:cNvPicPr>
            <a:picLocks noChangeAspect="1"/>
          </p:cNvPicPr>
          <p:nvPr/>
        </p:nvPicPr>
        <p:blipFill>
          <a:blip r:embed="rId3"/>
          <a:stretch>
            <a:fillRect/>
          </a:stretch>
        </p:blipFill>
        <p:spPr>
          <a:xfrm>
            <a:off x="662465" y="2327084"/>
            <a:ext cx="3756530" cy="2203831"/>
          </a:xfrm>
          <a:prstGeom prst="rect">
            <a:avLst/>
          </a:prstGeom>
        </p:spPr>
      </p:pic>
    </p:spTree>
    <p:extLst>
      <p:ext uri="{BB962C8B-B14F-4D97-AF65-F5344CB8AC3E}">
        <p14:creationId xmlns:p14="http://schemas.microsoft.com/office/powerpoint/2010/main" val="4259944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79EA2-3146-2FD9-663F-6C6F87F463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5AD413-86CC-A698-85B8-8C28E108D79D}"/>
              </a:ext>
            </a:extLst>
          </p:cNvPr>
          <p:cNvSpPr txBox="1"/>
          <p:nvPr/>
        </p:nvSpPr>
        <p:spPr>
          <a:xfrm>
            <a:off x="849776" y="632489"/>
            <a:ext cx="1622880" cy="646331"/>
          </a:xfrm>
          <a:prstGeom prst="rect">
            <a:avLst/>
          </a:prstGeom>
          <a:noFill/>
        </p:spPr>
        <p:txBody>
          <a:bodyPr wrap="none" rtlCol="0">
            <a:spAutoFit/>
          </a:bodyPr>
          <a:lstStyle/>
          <a:p>
            <a:pPr algn="ctr"/>
            <a:r>
              <a:rPr lang="en-US" sz="3600" b="1" dirty="0"/>
              <a:t>Results</a:t>
            </a:r>
            <a:endParaRPr lang="en-IN" sz="2000" b="1" dirty="0"/>
          </a:p>
        </p:txBody>
      </p:sp>
      <p:pic>
        <p:nvPicPr>
          <p:cNvPr id="4" name="Picture 3">
            <a:extLst>
              <a:ext uri="{FF2B5EF4-FFF2-40B4-BE49-F238E27FC236}">
                <a16:creationId xmlns:a16="http://schemas.microsoft.com/office/drawing/2014/main" id="{848E8548-3EF7-C380-A964-B12C0639BCA8}"/>
              </a:ext>
            </a:extLst>
          </p:cNvPr>
          <p:cNvPicPr>
            <a:picLocks noChangeAspect="1"/>
          </p:cNvPicPr>
          <p:nvPr/>
        </p:nvPicPr>
        <p:blipFill>
          <a:blip r:embed="rId2"/>
          <a:stretch>
            <a:fillRect/>
          </a:stretch>
        </p:blipFill>
        <p:spPr>
          <a:xfrm>
            <a:off x="849776" y="1278820"/>
            <a:ext cx="6341816" cy="4748354"/>
          </a:xfrm>
          <a:prstGeom prst="rect">
            <a:avLst/>
          </a:prstGeom>
        </p:spPr>
      </p:pic>
    </p:spTree>
    <p:extLst>
      <p:ext uri="{BB962C8B-B14F-4D97-AF65-F5344CB8AC3E}">
        <p14:creationId xmlns:p14="http://schemas.microsoft.com/office/powerpoint/2010/main" val="358470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45470" y="2191433"/>
            <a:ext cx="8177239" cy="646331"/>
          </a:xfrm>
          <a:prstGeom prst="rect">
            <a:avLst/>
          </a:prstGeom>
          <a:noFill/>
        </p:spPr>
        <p:txBody>
          <a:bodyPr wrap="none" rtlCol="0">
            <a:spAutoFit/>
          </a:bodyPr>
          <a:lstStyle/>
          <a:p>
            <a:r>
              <a:rPr lang="en-IN" dirty="0">
                <a:hlinkClick r:id="rId2"/>
              </a:rPr>
              <a:t>Base Paper:</a:t>
            </a:r>
          </a:p>
          <a:p>
            <a:r>
              <a:rPr lang="en-IN" dirty="0">
                <a:hlinkClick r:id="rId2"/>
              </a:rPr>
              <a:t>	 https://micsymposium.org/mics_2009_proceedings/mics2009_submission_66.pdf</a:t>
            </a:r>
            <a:endParaRPr lang="en-IN" dirty="0"/>
          </a:p>
        </p:txBody>
      </p:sp>
      <p:sp>
        <p:nvSpPr>
          <p:cNvPr id="2" name="TextBox 1">
            <a:extLst>
              <a:ext uri="{FF2B5EF4-FFF2-40B4-BE49-F238E27FC236}">
                <a16:creationId xmlns:a16="http://schemas.microsoft.com/office/drawing/2014/main" id="{CBDCF978-412E-5802-BE9B-1FA01904699B}"/>
              </a:ext>
            </a:extLst>
          </p:cNvPr>
          <p:cNvSpPr txBox="1"/>
          <p:nvPr/>
        </p:nvSpPr>
        <p:spPr>
          <a:xfrm>
            <a:off x="1245470" y="1307562"/>
            <a:ext cx="3403496" cy="646331"/>
          </a:xfrm>
          <a:prstGeom prst="rect">
            <a:avLst/>
          </a:prstGeom>
          <a:noFill/>
        </p:spPr>
        <p:txBody>
          <a:bodyPr wrap="none" rtlCol="0">
            <a:spAutoFit/>
          </a:bodyPr>
          <a:lstStyle/>
          <a:p>
            <a:r>
              <a:rPr lang="en-US" altLang="en-IN" sz="3600" b="1" dirty="0"/>
              <a:t>Base Paper Link</a:t>
            </a:r>
            <a:endParaRPr lang="en-IN" sz="2000" b="1" dirty="0"/>
          </a:p>
        </p:txBody>
      </p:sp>
    </p:spTree>
    <p:extLst>
      <p:ext uri="{BB962C8B-B14F-4D97-AF65-F5344CB8AC3E}">
        <p14:creationId xmlns:p14="http://schemas.microsoft.com/office/powerpoint/2010/main" val="251753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1000" fill="hold"/>
                                        <p:tgtEl>
                                          <p:spTgt spid="2"/>
                                        </p:tgtEl>
                                        <p:attrNameLst>
                                          <p:attrName>ppt_x</p:attrName>
                                        </p:attrNameLst>
                                      </p:cBhvr>
                                      <p:tavLst>
                                        <p:tav tm="0">
                                          <p:val>
                                            <p:strVal val="#ppt_x"/>
                                          </p:val>
                                        </p:tav>
                                        <p:tav tm="100000">
                                          <p:val>
                                            <p:strVal val="#ppt_x"/>
                                          </p:val>
                                        </p:tav>
                                      </p:tavLst>
                                    </p:anim>
                                    <p:anim calcmode="lin" valueType="num">
                                      <p:cBhvr additive="base">
                                        <p:cTn id="11" dur="1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F5DECF-D7BC-1DB3-855B-60562216B8A4}"/>
              </a:ext>
            </a:extLst>
          </p:cNvPr>
          <p:cNvSpPr txBox="1"/>
          <p:nvPr/>
        </p:nvSpPr>
        <p:spPr>
          <a:xfrm>
            <a:off x="983226" y="1777696"/>
            <a:ext cx="9458632" cy="830997"/>
          </a:xfrm>
          <a:prstGeom prst="rect">
            <a:avLst/>
          </a:prstGeom>
          <a:noFill/>
        </p:spPr>
        <p:txBody>
          <a:bodyPr wrap="square">
            <a:spAutoFit/>
          </a:bodyPr>
          <a:lstStyle/>
          <a:p>
            <a:r>
              <a:rPr lang="en-US" sz="1600" i="1" dirty="0">
                <a:latin typeface="Constantia" panose="02030602050306030303" pitchFamily="18" charset="0"/>
              </a:rPr>
              <a:t>1. </a:t>
            </a:r>
            <a:r>
              <a:rPr lang="en-US" sz="1600" b="0" i="1" dirty="0" err="1">
                <a:effectLst/>
                <a:latin typeface="Constantia" panose="02030602050306030303" pitchFamily="18" charset="0"/>
              </a:rPr>
              <a:t>Mantere</a:t>
            </a:r>
            <a:r>
              <a:rPr lang="en-US" sz="1600" b="0" i="1" dirty="0">
                <a:effectLst/>
                <a:latin typeface="Constantia" panose="02030602050306030303" pitchFamily="18" charset="0"/>
              </a:rPr>
              <a:t>, T., &amp; </a:t>
            </a:r>
            <a:r>
              <a:rPr lang="en-US" sz="1600" b="0" i="1" dirty="0" err="1">
                <a:effectLst/>
                <a:latin typeface="Constantia" panose="02030602050306030303" pitchFamily="18" charset="0"/>
              </a:rPr>
              <a:t>Koljonen</a:t>
            </a:r>
            <a:r>
              <a:rPr lang="en-US" sz="1600" b="0" i="1" dirty="0">
                <a:effectLst/>
                <a:latin typeface="Constantia" panose="02030602050306030303" pitchFamily="18" charset="0"/>
              </a:rPr>
              <a:t>, J. (2006, October). Solving and rating sudoku puzzles with genetic algorithms. In New Developments in Artificial Intelligence and the Semantic Web, Proceedings of the 12th Finnish Artificial Intelligence Conference </a:t>
            </a:r>
            <a:r>
              <a:rPr lang="en-US" sz="1600" b="0" i="1" dirty="0" err="1">
                <a:effectLst/>
                <a:latin typeface="Constantia" panose="02030602050306030303" pitchFamily="18" charset="0"/>
              </a:rPr>
              <a:t>STeP</a:t>
            </a:r>
            <a:r>
              <a:rPr lang="en-US" sz="1600" b="0" i="1" dirty="0">
                <a:effectLst/>
                <a:latin typeface="Constantia" panose="02030602050306030303" pitchFamily="18" charset="0"/>
              </a:rPr>
              <a:t> (pp. 86-92).</a:t>
            </a:r>
            <a:endParaRPr lang="en-IN" sz="1600" i="1" dirty="0">
              <a:latin typeface="Constantia" panose="02030602050306030303" pitchFamily="18" charset="0"/>
            </a:endParaRPr>
          </a:p>
        </p:txBody>
      </p:sp>
      <p:sp>
        <p:nvSpPr>
          <p:cNvPr id="5" name="TextBox 4">
            <a:extLst>
              <a:ext uri="{FF2B5EF4-FFF2-40B4-BE49-F238E27FC236}">
                <a16:creationId xmlns:a16="http://schemas.microsoft.com/office/drawing/2014/main" id="{34095767-27FE-B4AA-10CF-2367EE989E11}"/>
              </a:ext>
            </a:extLst>
          </p:cNvPr>
          <p:cNvSpPr txBox="1"/>
          <p:nvPr/>
        </p:nvSpPr>
        <p:spPr>
          <a:xfrm>
            <a:off x="983226" y="876727"/>
            <a:ext cx="2334293" cy="646331"/>
          </a:xfrm>
          <a:prstGeom prst="rect">
            <a:avLst/>
          </a:prstGeom>
          <a:noFill/>
        </p:spPr>
        <p:txBody>
          <a:bodyPr wrap="none" rtlCol="0">
            <a:spAutoFit/>
          </a:bodyPr>
          <a:lstStyle/>
          <a:p>
            <a:r>
              <a:rPr lang="en-IN" sz="3600" b="1" dirty="0"/>
              <a:t>References</a:t>
            </a:r>
            <a:endParaRPr lang="en-IN" sz="2000" b="1" dirty="0"/>
          </a:p>
        </p:txBody>
      </p:sp>
      <p:sp>
        <p:nvSpPr>
          <p:cNvPr id="7" name="TextBox 6">
            <a:extLst>
              <a:ext uri="{FF2B5EF4-FFF2-40B4-BE49-F238E27FC236}">
                <a16:creationId xmlns:a16="http://schemas.microsoft.com/office/drawing/2014/main" id="{50285B2F-CAA3-F64D-E88B-24F513AC49A7}"/>
              </a:ext>
            </a:extLst>
          </p:cNvPr>
          <p:cNvSpPr txBox="1"/>
          <p:nvPr/>
        </p:nvSpPr>
        <p:spPr>
          <a:xfrm>
            <a:off x="983226" y="2656767"/>
            <a:ext cx="9458632" cy="584775"/>
          </a:xfrm>
          <a:prstGeom prst="rect">
            <a:avLst/>
          </a:prstGeom>
          <a:noFill/>
        </p:spPr>
        <p:txBody>
          <a:bodyPr wrap="square">
            <a:spAutoFit/>
          </a:bodyPr>
          <a:lstStyle/>
          <a:p>
            <a:r>
              <a:rPr lang="en-US" sz="1600" i="1" dirty="0">
                <a:solidFill>
                  <a:schemeClr val="tx1">
                    <a:lumMod val="95000"/>
                    <a:lumOff val="5000"/>
                  </a:schemeClr>
                </a:solidFill>
                <a:latin typeface="Constantia" panose="02030602050306030303" pitchFamily="18" charset="0"/>
              </a:rPr>
              <a:t>2.  Lewis, R. (2007). Metaheuristics can solve Sudoku puzzles. Journal of Heuristics, 13(4), 387-401. https://doi.org/10.1007/s10732-007-9015-5.</a:t>
            </a:r>
            <a:endParaRPr lang="en-IN" sz="1600" i="1" dirty="0">
              <a:solidFill>
                <a:schemeClr val="tx1">
                  <a:lumMod val="95000"/>
                  <a:lumOff val="5000"/>
                </a:schemeClr>
              </a:solidFill>
              <a:latin typeface="Constantia" panose="02030602050306030303" pitchFamily="18" charset="0"/>
            </a:endParaRPr>
          </a:p>
        </p:txBody>
      </p:sp>
      <p:sp>
        <p:nvSpPr>
          <p:cNvPr id="9" name="TextBox 8">
            <a:extLst>
              <a:ext uri="{FF2B5EF4-FFF2-40B4-BE49-F238E27FC236}">
                <a16:creationId xmlns:a16="http://schemas.microsoft.com/office/drawing/2014/main" id="{E509C38B-CEE7-86DF-0D28-E1D26EE25A8A}"/>
              </a:ext>
            </a:extLst>
          </p:cNvPr>
          <p:cNvSpPr txBox="1"/>
          <p:nvPr/>
        </p:nvSpPr>
        <p:spPr>
          <a:xfrm>
            <a:off x="983226" y="3320394"/>
            <a:ext cx="9458632" cy="584775"/>
          </a:xfrm>
          <a:prstGeom prst="rect">
            <a:avLst/>
          </a:prstGeom>
          <a:noFill/>
        </p:spPr>
        <p:txBody>
          <a:bodyPr wrap="square">
            <a:spAutoFit/>
          </a:bodyPr>
          <a:lstStyle/>
          <a:p>
            <a:r>
              <a:rPr lang="en-IN" sz="1600" i="1" dirty="0">
                <a:solidFill>
                  <a:srgbClr val="222222"/>
                </a:solidFill>
                <a:latin typeface="Constantia" panose="02030602050306030303" pitchFamily="18" charset="0"/>
              </a:rPr>
              <a:t>3. </a:t>
            </a:r>
            <a:r>
              <a:rPr lang="en-US" sz="1600" i="1" dirty="0">
                <a:latin typeface="Constantia" panose="02030602050306030303" pitchFamily="18" charset="0"/>
              </a:rPr>
              <a:t> </a:t>
            </a:r>
            <a:r>
              <a:rPr lang="en-US" sz="1600" i="1" dirty="0" err="1">
                <a:latin typeface="Constantia" panose="02030602050306030303" pitchFamily="18" charset="0"/>
              </a:rPr>
              <a:t>Sivarama</a:t>
            </a:r>
            <a:r>
              <a:rPr lang="en-US" sz="1600" i="1" dirty="0">
                <a:latin typeface="Constantia" panose="02030602050306030303" pitchFamily="18" charset="0"/>
              </a:rPr>
              <a:t>, S., &amp; </a:t>
            </a:r>
            <a:r>
              <a:rPr lang="en-US" sz="1600" i="1" dirty="0" err="1">
                <a:latin typeface="Constantia" panose="02030602050306030303" pitchFamily="18" charset="0"/>
              </a:rPr>
              <a:t>Saikia</a:t>
            </a:r>
            <a:r>
              <a:rPr lang="en-US" sz="1600" i="1" dirty="0">
                <a:latin typeface="Constantia" panose="02030602050306030303" pitchFamily="18" charset="0"/>
              </a:rPr>
              <a:t>, H. (2010). A genetic algorithm approach to solve Sudoku puzzles. International Journal of Computer Applications, 7(13), 9-14. https://doi.org/10.5120/1312-1806.</a:t>
            </a:r>
            <a:endParaRPr lang="en-IN" sz="1600" i="1" dirty="0">
              <a:latin typeface="Constantia" panose="02030602050306030303" pitchFamily="18" charset="0"/>
            </a:endParaRPr>
          </a:p>
        </p:txBody>
      </p:sp>
      <p:sp>
        <p:nvSpPr>
          <p:cNvPr id="13" name="TextBox 12">
            <a:extLst>
              <a:ext uri="{FF2B5EF4-FFF2-40B4-BE49-F238E27FC236}">
                <a16:creationId xmlns:a16="http://schemas.microsoft.com/office/drawing/2014/main" id="{31460C59-C12E-6201-4053-B56C0E6E6564}"/>
              </a:ext>
            </a:extLst>
          </p:cNvPr>
          <p:cNvSpPr txBox="1"/>
          <p:nvPr/>
        </p:nvSpPr>
        <p:spPr>
          <a:xfrm>
            <a:off x="980333" y="3984021"/>
            <a:ext cx="9458632" cy="584775"/>
          </a:xfrm>
          <a:prstGeom prst="rect">
            <a:avLst/>
          </a:prstGeom>
          <a:noFill/>
        </p:spPr>
        <p:txBody>
          <a:bodyPr wrap="square">
            <a:spAutoFit/>
          </a:bodyPr>
          <a:lstStyle/>
          <a:p>
            <a:r>
              <a:rPr lang="en-IN" sz="1600" i="1" dirty="0">
                <a:latin typeface="Constantia" panose="02030602050306030303" pitchFamily="18" charset="0"/>
                <a:cs typeface="Arial" panose="020B0604020202020204" pitchFamily="34" charset="0"/>
              </a:rPr>
              <a:t>4.</a:t>
            </a:r>
            <a:r>
              <a:rPr lang="en-IN" sz="1600" i="1" dirty="0">
                <a:latin typeface="Constantia" panose="02030602050306030303" pitchFamily="18" charset="0"/>
              </a:rPr>
              <a:t> Chakraborty, P., &amp; </a:t>
            </a:r>
            <a:r>
              <a:rPr lang="en-IN" sz="1600" i="1" dirty="0" err="1">
                <a:latin typeface="Constantia" panose="02030602050306030303" pitchFamily="18" charset="0"/>
              </a:rPr>
              <a:t>Pohlheim</a:t>
            </a:r>
            <a:r>
              <a:rPr lang="en-IN" sz="1600" i="1" dirty="0">
                <a:latin typeface="Constantia" panose="02030602050306030303" pitchFamily="18" charset="0"/>
              </a:rPr>
              <a:t>, H. (2011). Constraint-based genetic algorithms for solving Sudoku puzzles. IEEE Congress on Evolutionary Computation, 1-8. https://doi.org/10.1109/CEC.2011.5949706.</a:t>
            </a:r>
            <a:endParaRPr lang="en-IN" sz="1600" i="1" dirty="0">
              <a:latin typeface="Constantia" panose="02030602050306030303" pitchFamily="18" charset="0"/>
              <a:cs typeface="Arial" panose="020B0604020202020204" pitchFamily="34" charset="0"/>
            </a:endParaRPr>
          </a:p>
        </p:txBody>
      </p:sp>
      <p:sp>
        <p:nvSpPr>
          <p:cNvPr id="15" name="TextBox 14">
            <a:extLst>
              <a:ext uri="{FF2B5EF4-FFF2-40B4-BE49-F238E27FC236}">
                <a16:creationId xmlns:a16="http://schemas.microsoft.com/office/drawing/2014/main" id="{72FE8269-7102-307A-68D1-CAA5A8ABC89A}"/>
              </a:ext>
            </a:extLst>
          </p:cNvPr>
          <p:cNvSpPr txBox="1"/>
          <p:nvPr/>
        </p:nvSpPr>
        <p:spPr>
          <a:xfrm>
            <a:off x="980333" y="4647648"/>
            <a:ext cx="9458632" cy="584775"/>
          </a:xfrm>
          <a:prstGeom prst="rect">
            <a:avLst/>
          </a:prstGeom>
          <a:noFill/>
        </p:spPr>
        <p:txBody>
          <a:bodyPr wrap="square">
            <a:spAutoFit/>
          </a:bodyPr>
          <a:lstStyle/>
          <a:p>
            <a:r>
              <a:rPr lang="en-US" sz="1600" i="1" dirty="0">
                <a:solidFill>
                  <a:srgbClr val="222222"/>
                </a:solidFill>
                <a:latin typeface="Constantia" panose="02030602050306030303" pitchFamily="18" charset="0"/>
              </a:rPr>
              <a:t>5.</a:t>
            </a:r>
            <a:r>
              <a:rPr lang="en-IN" sz="1600" i="1" dirty="0">
                <a:latin typeface="Constantia" panose="02030602050306030303" pitchFamily="18" charset="0"/>
              </a:rPr>
              <a:t> Pereira, F., Tavares, J., &amp; Machado, P. (2013). Co-evolutionary genetic algorithms for Sudoku puzzle solving. Soft Computing, 17(12), 2243-2255. https://doi.org/10.1007/s00500-013-1072-x.</a:t>
            </a:r>
          </a:p>
        </p:txBody>
      </p:sp>
    </p:spTree>
    <p:extLst>
      <p:ext uri="{BB962C8B-B14F-4D97-AF65-F5344CB8AC3E}">
        <p14:creationId xmlns:p14="http://schemas.microsoft.com/office/powerpoint/2010/main" val="4292711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4887" y="1086518"/>
            <a:ext cx="6735098" cy="461665"/>
          </a:xfrm>
          <a:prstGeom prst="rect">
            <a:avLst/>
          </a:prstGeom>
          <a:noFill/>
        </p:spPr>
        <p:txBody>
          <a:bodyPr wrap="square">
            <a:spAutoFit/>
          </a:bodyPr>
          <a:lstStyle/>
          <a:p>
            <a:r>
              <a:rPr lang="en-IN" sz="2400" b="1" dirty="0"/>
              <a:t>Key Research Papers &amp; Contributions</a:t>
            </a:r>
            <a:endParaRPr lang="en-IN" sz="2400" dirty="0"/>
          </a:p>
        </p:txBody>
      </p:sp>
      <p:sp>
        <p:nvSpPr>
          <p:cNvPr id="3" name="TextBox 2">
            <a:extLst>
              <a:ext uri="{FF2B5EF4-FFF2-40B4-BE49-F238E27FC236}">
                <a16:creationId xmlns:a16="http://schemas.microsoft.com/office/drawing/2014/main" id="{D08EC2A7-AA94-B9EE-72A9-69EB4E50CC3A}"/>
              </a:ext>
            </a:extLst>
          </p:cNvPr>
          <p:cNvSpPr txBox="1"/>
          <p:nvPr/>
        </p:nvSpPr>
        <p:spPr>
          <a:xfrm>
            <a:off x="924887" y="2165243"/>
            <a:ext cx="6115664" cy="369332"/>
          </a:xfrm>
          <a:prstGeom prst="rect">
            <a:avLst/>
          </a:prstGeom>
          <a:noFill/>
        </p:spPr>
        <p:txBody>
          <a:bodyPr wrap="square">
            <a:spAutoFit/>
          </a:bodyPr>
          <a:lstStyle/>
          <a:p>
            <a:r>
              <a:rPr lang="en-IN" dirty="0"/>
              <a:t>1. https://ieeexplore.ieee.org/document/4424632</a:t>
            </a:r>
          </a:p>
        </p:txBody>
      </p:sp>
      <p:sp>
        <p:nvSpPr>
          <p:cNvPr id="6" name="TextBox 5">
            <a:extLst>
              <a:ext uri="{FF2B5EF4-FFF2-40B4-BE49-F238E27FC236}">
                <a16:creationId xmlns:a16="http://schemas.microsoft.com/office/drawing/2014/main" id="{E6FAEC87-8206-A14C-DA47-D30E480AA8E6}"/>
              </a:ext>
            </a:extLst>
          </p:cNvPr>
          <p:cNvSpPr txBox="1"/>
          <p:nvPr/>
        </p:nvSpPr>
        <p:spPr>
          <a:xfrm>
            <a:off x="924887" y="2782303"/>
            <a:ext cx="6115664" cy="369332"/>
          </a:xfrm>
          <a:prstGeom prst="rect">
            <a:avLst/>
          </a:prstGeom>
          <a:noFill/>
        </p:spPr>
        <p:txBody>
          <a:bodyPr wrap="square">
            <a:spAutoFit/>
          </a:bodyPr>
          <a:lstStyle/>
          <a:p>
            <a:r>
              <a:rPr lang="en-IN" dirty="0"/>
              <a:t>2. https://link.springer.com/article/10.1007/s10732-007-9012-8</a:t>
            </a:r>
          </a:p>
        </p:txBody>
      </p:sp>
      <p:sp>
        <p:nvSpPr>
          <p:cNvPr id="8" name="TextBox 7">
            <a:extLst>
              <a:ext uri="{FF2B5EF4-FFF2-40B4-BE49-F238E27FC236}">
                <a16:creationId xmlns:a16="http://schemas.microsoft.com/office/drawing/2014/main" id="{346FCCC4-3FB1-69DE-7695-3457B481561B}"/>
              </a:ext>
            </a:extLst>
          </p:cNvPr>
          <p:cNvSpPr txBox="1"/>
          <p:nvPr/>
        </p:nvSpPr>
        <p:spPr>
          <a:xfrm>
            <a:off x="924887" y="3399363"/>
            <a:ext cx="6115664" cy="369332"/>
          </a:xfrm>
          <a:prstGeom prst="rect">
            <a:avLst/>
          </a:prstGeom>
          <a:noFill/>
        </p:spPr>
        <p:txBody>
          <a:bodyPr wrap="square">
            <a:spAutoFit/>
          </a:bodyPr>
          <a:lstStyle/>
          <a:p>
            <a:r>
              <a:rPr lang="en-IN" dirty="0"/>
              <a:t>3. https://ieeexplore.ieee.org/document/5949706</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045445969AB9747BECD5D93D98E8096" ma:contentTypeVersion="4" ma:contentTypeDescription="Create a new document." ma:contentTypeScope="" ma:versionID="ba349b2b36f486dbb63f969f6acb3645">
  <xsd:schema xmlns:xsd="http://www.w3.org/2001/XMLSchema" xmlns:xs="http://www.w3.org/2001/XMLSchema" xmlns:p="http://schemas.microsoft.com/office/2006/metadata/properties" xmlns:ns3="8d04a2bd-5bad-4763-8755-ad0df132a7c3" targetNamespace="http://schemas.microsoft.com/office/2006/metadata/properties" ma:root="true" ma:fieldsID="788634c185e175607a206e2c770ca507" ns3:_="">
    <xsd:import namespace="8d04a2bd-5bad-4763-8755-ad0df132a7c3"/>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04a2bd-5bad-4763-8755-ad0df132a7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08A774-1ED3-4595-830E-1E497B5D5F02}">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CA9071CC-6E8C-4ECE-9103-53F692CCF080}">
  <ds:schemaRefs>
    <ds:schemaRef ds:uri="http://schemas.microsoft.com/sharepoint/v3/contenttype/forms"/>
  </ds:schemaRefs>
</ds:datastoreItem>
</file>

<file path=customXml/itemProps3.xml><?xml version="1.0" encoding="utf-8"?>
<ds:datastoreItem xmlns:ds="http://schemas.openxmlformats.org/officeDocument/2006/customXml" ds:itemID="{73666734-AB94-4F59-A637-C57B4EB36D63}">
  <ds:schemaRefs>
    <ds:schemaRef ds:uri="http://schemas.microsoft.com/office/2006/metadata/contentType"/>
    <ds:schemaRef ds:uri="http://schemas.microsoft.com/office/2006/metadata/properties/metaAttributes"/>
    <ds:schemaRef ds:uri="http://www.w3.org/2000/xmlns/"/>
    <ds:schemaRef ds:uri="http://www.w3.org/2001/XMLSchema"/>
    <ds:schemaRef ds:uri="8d04a2bd-5bad-4763-8755-ad0df132a7c3"/>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482</TotalTime>
  <Words>1099</Words>
  <Application>Microsoft Office PowerPoint</Application>
  <PresentationFormat>Widescreen</PresentationFormat>
  <Paragraphs>65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Constantia</vt:lpstr>
      <vt:lpstr>Garamond</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Eswar Vutukuri</dc:creator>
  <cp:lastModifiedBy>Kaif Sharif</cp:lastModifiedBy>
  <cp:revision>16</cp:revision>
  <dcterms:created xsi:type="dcterms:W3CDTF">2025-02-20T08:47:00Z</dcterms:created>
  <dcterms:modified xsi:type="dcterms:W3CDTF">2025-04-08T08:28:43Z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0x0101004045445969AB9747BECD5D93D98E8096</vt:lpwstr>
  </property>
  <property fmtid="{D5CDD505-2E9C-101B-9397-08002B2CF9AE}" pid="3" name="ICV">
    <vt:lpwstr>78BB6221694847009B07AC4D2C2D1458_12</vt:lpwstr>
  </property>
  <property fmtid="{D5CDD505-2E9C-101B-9397-08002B2CF9AE}" pid="4" name="KSOProductBuildVer">
    <vt:lpwstr>2057-12.2.0.18639</vt:lpwstr>
  </property>
</Properties>
</file>