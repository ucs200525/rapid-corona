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9" r:id="rId4"/>
    <p:sldId id="258" r:id="rId5"/>
    <p:sldId id="273" r:id="rId6"/>
    <p:sldId id="260" r:id="rId7"/>
    <p:sldId id="261" r:id="rId8"/>
    <p:sldId id="262" r:id="rId9"/>
    <p:sldId id="263" r:id="rId10"/>
    <p:sldId id="264" r:id="rId11"/>
    <p:sldId id="265" r:id="rId12"/>
    <p:sldId id="274" r:id="rId13"/>
    <p:sldId id="267" r:id="rId14"/>
    <p:sldId id="268" r:id="rId15"/>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Canva Sans" panose="020B0604020202020204" charset="0"/>
      <p:regular r:id="rId20"/>
    </p:embeddedFont>
    <p:embeddedFont>
      <p:font typeface="Canva Sans Bold" panose="020B0604020202020204" charset="0"/>
      <p:regular r:id="rId21"/>
    </p:embeddedFont>
    <p:embeddedFont>
      <p:font typeface="Lato" panose="020F0502020204030203" pitchFamily="34" charset="0"/>
      <p:regular r:id="rId22"/>
      <p:bold r:id="rId23"/>
      <p:italic r:id="rId24"/>
      <p:boldItalic r:id="rId25"/>
    </p:embeddedFont>
    <p:embeddedFont>
      <p:font typeface="Lato Bold" panose="020F0502020204030203" charset="0"/>
      <p:regular r:id="rId26"/>
    </p:embeddedFont>
    <p:embeddedFont>
      <p:font typeface="League Spartan"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3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23" autoAdjust="0"/>
    <p:restoredTop sz="90719" autoAdjust="0"/>
  </p:normalViewPr>
  <p:slideViewPr>
    <p:cSldViewPr>
      <p:cViewPr varScale="1">
        <p:scale>
          <a:sx n="50" d="100"/>
          <a:sy n="50" d="100"/>
        </p:scale>
        <p:origin x="696"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hyperlink" Target="https://ieeexplore.ieee.org/document/9422649" TargetMode="External"/><Relationship Id="rId4" Type="http://schemas.openxmlformats.org/officeDocument/2006/relationships/image" Target="../media/image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4.png"/><Relationship Id="rId7" Type="http://schemas.openxmlformats.org/officeDocument/2006/relationships/image" Target="../media/image3.png"/><Relationship Id="rId12" Type="http://schemas.openxmlformats.org/officeDocument/2006/relationships/image" Target="../media/image8.sv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svg"/><Relationship Id="rId4" Type="http://schemas.openxmlformats.org/officeDocument/2006/relationships/image" Target="../media/image15.svg"/><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1168000" y="-1409700"/>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flipH="1">
            <a:off x="12995787" y="7620110"/>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0" y="6491853"/>
            <a:ext cx="3864095" cy="3899545"/>
          </a:xfrm>
          <a:custGeom>
            <a:avLst/>
            <a:gdLst/>
            <a:ahLst/>
            <a:cxnLst/>
            <a:rect l="l" t="t" r="r" b="b"/>
            <a:pathLst>
              <a:path w="3864095" h="3899545">
                <a:moveTo>
                  <a:pt x="0" y="3899546"/>
                </a:moveTo>
                <a:lnTo>
                  <a:pt x="3864095" y="3899546"/>
                </a:lnTo>
                <a:lnTo>
                  <a:pt x="3864095" y="0"/>
                </a:lnTo>
                <a:lnTo>
                  <a:pt x="0" y="0"/>
                </a:lnTo>
                <a:lnTo>
                  <a:pt x="0" y="389954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a:off x="5186271" y="9545574"/>
            <a:ext cx="7915457" cy="273443"/>
          </a:xfrm>
          <a:custGeom>
            <a:avLst/>
            <a:gdLst/>
            <a:ahLst/>
            <a:cxnLst/>
            <a:rect l="l" t="t" r="r" b="b"/>
            <a:pathLst>
              <a:path w="7915457" h="273443">
                <a:moveTo>
                  <a:pt x="0" y="0"/>
                </a:moveTo>
                <a:lnTo>
                  <a:pt x="7915458" y="0"/>
                </a:lnTo>
                <a:lnTo>
                  <a:pt x="7915458" y="273443"/>
                </a:lnTo>
                <a:lnTo>
                  <a:pt x="0" y="2734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 name="Freeform 6"/>
          <p:cNvSpPr/>
          <p:nvPr/>
        </p:nvSpPr>
        <p:spPr>
          <a:xfrm>
            <a:off x="16307767" y="387832"/>
            <a:ext cx="1903066" cy="1799117"/>
          </a:xfrm>
          <a:custGeom>
            <a:avLst/>
            <a:gdLst/>
            <a:ahLst/>
            <a:cxnLst/>
            <a:rect l="l" t="t" r="r" b="b"/>
            <a:pathLst>
              <a:path w="1903066" h="1799117">
                <a:moveTo>
                  <a:pt x="0" y="0"/>
                </a:moveTo>
                <a:lnTo>
                  <a:pt x="1903066" y="0"/>
                </a:lnTo>
                <a:lnTo>
                  <a:pt x="1903066" y="1799117"/>
                </a:lnTo>
                <a:lnTo>
                  <a:pt x="0" y="1799117"/>
                </a:lnTo>
                <a:lnTo>
                  <a:pt x="0" y="0"/>
                </a:lnTo>
                <a:close/>
              </a:path>
            </a:pathLst>
          </a:custGeom>
          <a:blipFill>
            <a:blip r:embed="rId10"/>
            <a:stretch>
              <a:fillRect/>
            </a:stretch>
          </a:blipFill>
        </p:spPr>
        <p:txBody>
          <a:bodyPr/>
          <a:lstStyle/>
          <a:p>
            <a:endParaRPr lang="en-IN" dirty="0"/>
          </a:p>
        </p:txBody>
      </p:sp>
      <p:sp>
        <p:nvSpPr>
          <p:cNvPr id="7" name="TextBox 7"/>
          <p:cNvSpPr txBox="1"/>
          <p:nvPr/>
        </p:nvSpPr>
        <p:spPr>
          <a:xfrm>
            <a:off x="1371600" y="792473"/>
            <a:ext cx="15068239" cy="2257669"/>
          </a:xfrm>
          <a:prstGeom prst="rect">
            <a:avLst/>
          </a:prstGeom>
        </p:spPr>
        <p:txBody>
          <a:bodyPr lIns="0" tIns="0" rIns="0" bIns="0" rtlCol="0" anchor="t">
            <a:spAutoFit/>
          </a:bodyPr>
          <a:lstStyle/>
          <a:p>
            <a:pPr algn="ctr">
              <a:lnSpc>
                <a:spcPts val="9111"/>
              </a:lnSpc>
            </a:pPr>
            <a:r>
              <a:rPr lang="en-US" sz="6508" b="1" dirty="0">
                <a:solidFill>
                  <a:srgbClr val="163C3F"/>
                </a:solidFill>
                <a:latin typeface="Canva Sans Bold"/>
                <a:ea typeface="Canva Sans Bold"/>
                <a:cs typeface="Canva Sans Bold"/>
                <a:sym typeface="Canva Sans Bold"/>
              </a:rPr>
              <a:t>DDoS Mitigation System using </a:t>
            </a:r>
            <a:r>
              <a:rPr lang="en-US" sz="6508" b="1" dirty="0" err="1">
                <a:solidFill>
                  <a:srgbClr val="163C3F"/>
                </a:solidFill>
                <a:latin typeface="Canva Sans Bold"/>
                <a:ea typeface="Canva Sans Bold"/>
                <a:cs typeface="Canva Sans Bold"/>
                <a:sym typeface="Canva Sans Bold"/>
              </a:rPr>
              <a:t>eBPF</a:t>
            </a:r>
            <a:r>
              <a:rPr lang="en-US" sz="6508" b="1" dirty="0">
                <a:solidFill>
                  <a:srgbClr val="163C3F"/>
                </a:solidFill>
                <a:latin typeface="Canva Sans Bold"/>
                <a:ea typeface="Canva Sans Bold"/>
                <a:cs typeface="Canva Sans Bold"/>
                <a:sym typeface="Canva Sans Bold"/>
              </a:rPr>
              <a:t> and ML Models</a:t>
            </a:r>
          </a:p>
        </p:txBody>
      </p:sp>
      <p:sp>
        <p:nvSpPr>
          <p:cNvPr id="8" name="TextBox 8"/>
          <p:cNvSpPr txBox="1"/>
          <p:nvPr/>
        </p:nvSpPr>
        <p:spPr>
          <a:xfrm>
            <a:off x="5939730" y="7000862"/>
            <a:ext cx="6408539" cy="579261"/>
          </a:xfrm>
          <a:prstGeom prst="rect">
            <a:avLst/>
          </a:prstGeom>
        </p:spPr>
        <p:txBody>
          <a:bodyPr lIns="0" tIns="0" rIns="0" bIns="0" rtlCol="0" anchor="t">
            <a:spAutoFit/>
          </a:bodyPr>
          <a:lstStyle/>
          <a:p>
            <a:pPr algn="ctr">
              <a:lnSpc>
                <a:spcPts val="5040"/>
              </a:lnSpc>
              <a:spcBef>
                <a:spcPct val="0"/>
              </a:spcBef>
            </a:pPr>
            <a:r>
              <a:rPr lang="en-US" sz="3600" b="1" dirty="0">
                <a:solidFill>
                  <a:srgbClr val="163C3F"/>
                </a:solidFill>
                <a:latin typeface="Lato Bold"/>
                <a:ea typeface="Lato Bold"/>
                <a:cs typeface="Lato Bold"/>
                <a:sym typeface="Lato Bold"/>
              </a:rPr>
              <a:t>FACULTY: </a:t>
            </a:r>
            <a:r>
              <a:rPr lang="en-US" sz="3600" dirty="0" err="1">
                <a:solidFill>
                  <a:srgbClr val="163C3F"/>
                </a:solidFill>
                <a:latin typeface="Lato"/>
                <a:ea typeface="Lato"/>
                <a:cs typeface="Lato"/>
                <a:sym typeface="Lato"/>
              </a:rPr>
              <a:t>Santhadevi.D</a:t>
            </a:r>
            <a:r>
              <a:rPr lang="en-US" sz="3600" dirty="0">
                <a:solidFill>
                  <a:srgbClr val="163C3F"/>
                </a:solidFill>
                <a:latin typeface="Lato"/>
                <a:ea typeface="Lato"/>
                <a:cs typeface="Lato"/>
                <a:sym typeface="Lato"/>
              </a:rPr>
              <a:t> </a:t>
            </a:r>
            <a:endParaRPr lang="en-US" sz="3600" b="1" dirty="0">
              <a:solidFill>
                <a:srgbClr val="163C3F"/>
              </a:solidFill>
              <a:latin typeface="Lato Bold"/>
              <a:ea typeface="Lato Bold"/>
              <a:cs typeface="Lato Bold"/>
              <a:sym typeface="Lato Bold"/>
            </a:endParaRPr>
          </a:p>
        </p:txBody>
      </p:sp>
      <p:sp>
        <p:nvSpPr>
          <p:cNvPr id="9" name="TextBox 9"/>
          <p:cNvSpPr txBox="1"/>
          <p:nvPr/>
        </p:nvSpPr>
        <p:spPr>
          <a:xfrm>
            <a:off x="5186271" y="4330496"/>
            <a:ext cx="8356350" cy="2523640"/>
          </a:xfrm>
          <a:prstGeom prst="rect">
            <a:avLst/>
          </a:prstGeom>
        </p:spPr>
        <p:txBody>
          <a:bodyPr wrap="square" lIns="0" tIns="0" rIns="0" bIns="0" rtlCol="0" anchor="t">
            <a:spAutoFit/>
          </a:bodyPr>
          <a:lstStyle/>
          <a:p>
            <a:pPr algn="ctr">
              <a:lnSpc>
                <a:spcPts val="5039"/>
              </a:lnSpc>
            </a:pPr>
            <a:r>
              <a:rPr lang="en-US" sz="3599" b="1" dirty="0">
                <a:solidFill>
                  <a:srgbClr val="163C3F"/>
                </a:solidFill>
                <a:latin typeface="Canva Sans Bold"/>
                <a:ea typeface="Canva Sans Bold"/>
                <a:cs typeface="Canva Sans Bold"/>
                <a:sym typeface="Canva Sans Bold"/>
              </a:rPr>
              <a:t>By</a:t>
            </a:r>
            <a:r>
              <a:rPr lang="en-US" sz="3599" dirty="0">
                <a:solidFill>
                  <a:srgbClr val="163C3F"/>
                </a:solidFill>
                <a:latin typeface="Canva Sans"/>
                <a:ea typeface="Canva Sans"/>
                <a:cs typeface="Canva Sans"/>
                <a:sym typeface="Canva Sans"/>
              </a:rPr>
              <a:t>:</a:t>
            </a:r>
          </a:p>
          <a:p>
            <a:pPr algn="ctr">
              <a:lnSpc>
                <a:spcPts val="5039"/>
              </a:lnSpc>
            </a:pPr>
            <a:r>
              <a:rPr lang="en-US" sz="3599" dirty="0">
                <a:solidFill>
                  <a:srgbClr val="163C3F"/>
                </a:solidFill>
                <a:latin typeface="Canva Sans"/>
                <a:ea typeface="Canva Sans"/>
                <a:cs typeface="Canva Sans"/>
                <a:sym typeface="Canva Sans"/>
              </a:rPr>
              <a:t>U. Chandra Sekhar - 23BCE9222</a:t>
            </a:r>
          </a:p>
          <a:p>
            <a:pPr algn="ctr">
              <a:lnSpc>
                <a:spcPts val="5039"/>
              </a:lnSpc>
            </a:pPr>
            <a:r>
              <a:rPr lang="en-US" sz="3599" dirty="0">
                <a:solidFill>
                  <a:srgbClr val="163C3F"/>
                </a:solidFill>
                <a:latin typeface="Canva Sans"/>
                <a:ea typeface="Canva Sans"/>
                <a:cs typeface="Canva Sans"/>
                <a:sym typeface="Canva Sans"/>
              </a:rPr>
              <a:t>Kaif Sharif </a:t>
            </a:r>
            <a:r>
              <a:rPr lang="en-US" sz="3599" dirty="0" err="1">
                <a:solidFill>
                  <a:srgbClr val="163C3F"/>
                </a:solidFill>
                <a:latin typeface="Canva Sans"/>
                <a:ea typeface="Canva Sans"/>
                <a:cs typeface="Canva Sans"/>
                <a:sym typeface="Canva Sans"/>
              </a:rPr>
              <a:t>Sk</a:t>
            </a:r>
            <a:r>
              <a:rPr lang="en-US" sz="3599" dirty="0">
                <a:solidFill>
                  <a:srgbClr val="163C3F"/>
                </a:solidFill>
                <a:latin typeface="Canva Sans"/>
                <a:ea typeface="Canva Sans"/>
                <a:cs typeface="Canva Sans"/>
                <a:sym typeface="Canva Sans"/>
              </a:rPr>
              <a:t>- 23BCE9393</a:t>
            </a:r>
            <a:br>
              <a:rPr lang="en-US" sz="3599" dirty="0">
                <a:solidFill>
                  <a:srgbClr val="163C3F"/>
                </a:solidFill>
                <a:latin typeface="Canva Sans"/>
                <a:ea typeface="Canva Sans"/>
                <a:cs typeface="Canva Sans"/>
                <a:sym typeface="Canva Sans"/>
              </a:rPr>
            </a:br>
            <a:r>
              <a:rPr lang="en-US" sz="3599" dirty="0">
                <a:solidFill>
                  <a:srgbClr val="163C3F"/>
                </a:solidFill>
                <a:latin typeface="Canva Sans"/>
                <a:ea typeface="Canva Sans"/>
                <a:cs typeface="Canva Sans"/>
                <a:sym typeface="Canva Sans"/>
              </a:rPr>
              <a:t>Hari Kiran J -23BCE9689</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3794488" cy="2987297"/>
          </a:xfrm>
          <a:custGeom>
            <a:avLst/>
            <a:gdLst/>
            <a:ahLst/>
            <a:cxnLst/>
            <a:rect l="l" t="t" r="r" b="b"/>
            <a:pathLst>
              <a:path w="3794488" h="2987297">
                <a:moveTo>
                  <a:pt x="0" y="0"/>
                </a:moveTo>
                <a:lnTo>
                  <a:pt x="3794488" y="0"/>
                </a:lnTo>
                <a:lnTo>
                  <a:pt x="3794488" y="2987297"/>
                </a:lnTo>
                <a:lnTo>
                  <a:pt x="0" y="29872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4029948" y="8472751"/>
            <a:ext cx="5511901" cy="2335042"/>
          </a:xfrm>
          <a:custGeom>
            <a:avLst/>
            <a:gdLst/>
            <a:ahLst/>
            <a:cxnLst/>
            <a:rect l="l" t="t" r="r" b="b"/>
            <a:pathLst>
              <a:path w="5511901" h="2335042">
                <a:moveTo>
                  <a:pt x="5511901" y="0"/>
                </a:moveTo>
                <a:lnTo>
                  <a:pt x="0" y="0"/>
                </a:lnTo>
                <a:lnTo>
                  <a:pt x="0" y="2335041"/>
                </a:lnTo>
                <a:lnTo>
                  <a:pt x="5511901" y="2335041"/>
                </a:lnTo>
                <a:lnTo>
                  <a:pt x="551190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7653652"/>
            <a:ext cx="2358844" cy="2380484"/>
          </a:xfrm>
          <a:custGeom>
            <a:avLst/>
            <a:gdLst/>
            <a:ahLst/>
            <a:cxnLst/>
            <a:rect l="l" t="t" r="r" b="b"/>
            <a:pathLst>
              <a:path w="2358844" h="2380484">
                <a:moveTo>
                  <a:pt x="0" y="2380485"/>
                </a:moveTo>
                <a:lnTo>
                  <a:pt x="2358844" y="2380485"/>
                </a:lnTo>
                <a:lnTo>
                  <a:pt x="2358844" y="0"/>
                </a:lnTo>
                <a:lnTo>
                  <a:pt x="0" y="0"/>
                </a:lnTo>
                <a:lnTo>
                  <a:pt x="0" y="238048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5108893" y="271913"/>
            <a:ext cx="2955054" cy="2982164"/>
          </a:xfrm>
          <a:custGeom>
            <a:avLst/>
            <a:gdLst/>
            <a:ahLst/>
            <a:cxnLst/>
            <a:rect l="l" t="t" r="r" b="b"/>
            <a:pathLst>
              <a:path w="2955054" h="2982164">
                <a:moveTo>
                  <a:pt x="2955054" y="0"/>
                </a:moveTo>
                <a:lnTo>
                  <a:pt x="0" y="0"/>
                </a:lnTo>
                <a:lnTo>
                  <a:pt x="0" y="2982165"/>
                </a:lnTo>
                <a:lnTo>
                  <a:pt x="2955054" y="2982165"/>
                </a:lnTo>
                <a:lnTo>
                  <a:pt x="295505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258790" y="1033481"/>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5347762" y="167138"/>
            <a:ext cx="7475491" cy="881010"/>
          </a:xfrm>
          <a:prstGeom prst="rect">
            <a:avLst/>
          </a:prstGeom>
        </p:spPr>
        <p:txBody>
          <a:bodyPr lIns="0" tIns="0" rIns="0" bIns="0" rtlCol="0" anchor="t">
            <a:spAutoFit/>
          </a:bodyPr>
          <a:lstStyle/>
          <a:p>
            <a:pPr algn="ctr">
              <a:lnSpc>
                <a:spcPts val="7000"/>
              </a:lnSpc>
            </a:pPr>
            <a:r>
              <a:rPr lang="en-US" sz="5000" dirty="0">
                <a:solidFill>
                  <a:srgbClr val="163C3F"/>
                </a:solidFill>
                <a:latin typeface="League Spartan"/>
                <a:ea typeface="League Spartan"/>
                <a:cs typeface="League Spartan"/>
                <a:sym typeface="League Spartan"/>
              </a:rPr>
              <a:t>A</a:t>
            </a:r>
            <a:r>
              <a:rPr lang="en-IN" sz="5400" dirty="0">
                <a:solidFill>
                  <a:srgbClr val="163C3F"/>
                </a:solidFill>
                <a:latin typeface="League Spartan"/>
                <a:ea typeface="League Spartan"/>
                <a:cs typeface="League Spartan"/>
                <a:sym typeface="League Spartan"/>
              </a:rPr>
              <a:t>BSTRACT</a:t>
            </a:r>
            <a:r>
              <a:rPr lang="en-IN" sz="5400" dirty="0"/>
              <a:t> </a:t>
            </a:r>
            <a:endParaRPr lang="en-US" sz="5000" dirty="0">
              <a:solidFill>
                <a:srgbClr val="163C3F"/>
              </a:solidFill>
              <a:latin typeface="League Spartan"/>
              <a:ea typeface="League Spartan"/>
              <a:cs typeface="League Spartan"/>
              <a:sym typeface="League Spartan"/>
            </a:endParaRPr>
          </a:p>
        </p:txBody>
      </p:sp>
      <p:sp>
        <p:nvSpPr>
          <p:cNvPr id="8" name="TextBox 8"/>
          <p:cNvSpPr txBox="1"/>
          <p:nvPr/>
        </p:nvSpPr>
        <p:spPr>
          <a:xfrm>
            <a:off x="1752600" y="1524229"/>
            <a:ext cx="15214240" cy="1802288"/>
          </a:xfrm>
          <a:prstGeom prst="rect">
            <a:avLst/>
          </a:prstGeom>
        </p:spPr>
        <p:txBody>
          <a:bodyPr lIns="0" tIns="0" rIns="0" bIns="0" rtlCol="0" anchor="t">
            <a:spAutoFit/>
          </a:bodyPr>
          <a:lstStyle/>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p:txBody>
      </p:sp>
      <p:sp>
        <p:nvSpPr>
          <p:cNvPr id="11" name="Rectangle 2">
            <a:extLst>
              <a:ext uri="{FF2B5EF4-FFF2-40B4-BE49-F238E27FC236}">
                <a16:creationId xmlns:a16="http://schemas.microsoft.com/office/drawing/2014/main" id="{F8057EA2-AFEE-F0E7-06A9-13445E730CCD}"/>
              </a:ext>
            </a:extLst>
          </p:cNvPr>
          <p:cNvSpPr>
            <a:spLocks noChangeArrowheads="1"/>
          </p:cNvSpPr>
          <p:nvPr/>
        </p:nvSpPr>
        <p:spPr bwMode="auto">
          <a:xfrm>
            <a:off x="356105" y="1286188"/>
            <a:ext cx="1800723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DDoS: Major threat → outages, financial &amp; reputation loss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Traditional defenses fail: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 High latency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 Can’t separate flash crowds from attacks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Poor scalability (high </a:t>
            </a:r>
            <a:r>
              <a:rPr kumimoji="0" lang="en-US" altLang="en-US" sz="3200" b="0" i="0" u="none" strike="noStrike" cap="none" normalizeH="0" baseline="0" dirty="0" err="1">
                <a:ln>
                  <a:noFill/>
                </a:ln>
                <a:solidFill>
                  <a:schemeClr val="tx1"/>
                </a:solidFill>
                <a:effectLst/>
                <a:latin typeface="Arial" panose="020B0604020202020204" pitchFamily="34" charset="0"/>
              </a:rPr>
              <a:t>pps</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 • High false positives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Our solution</a:t>
            </a:r>
            <a:r>
              <a:rPr kumimoji="0" lang="en-US" altLang="en-US" sz="3200" b="0" i="0" u="none" strike="noStrike" cap="none" normalizeH="0" baseline="0" dirty="0">
                <a:ln>
                  <a:noFill/>
                </a:ln>
                <a:solidFill>
                  <a:schemeClr val="tx1"/>
                </a:solidFill>
                <a:effectLst/>
                <a:latin typeface="Arial" panose="020B0604020202020204" pitchFamily="34" charset="0"/>
              </a:rPr>
              <a:t>: Real-time mitigation system • Lightweight ML + </a:t>
            </a:r>
            <a:r>
              <a:rPr kumimoji="0" lang="en-US" altLang="en-US" sz="3200" b="0" i="0" u="none" strike="noStrike" cap="none" normalizeH="0" baseline="0" dirty="0" err="1">
                <a:ln>
                  <a:noFill/>
                </a:ln>
                <a:solidFill>
                  <a:schemeClr val="tx1"/>
                </a:solidFill>
                <a:effectLst/>
                <a:latin typeface="Arial" panose="020B0604020202020204" pitchFamily="34" charset="0"/>
              </a:rPr>
              <a:t>eBPF</a:t>
            </a:r>
            <a:r>
              <a:rPr kumimoji="0" lang="en-US" altLang="en-US" sz="3200" b="0" i="0" u="none" strike="noStrike" cap="none" normalizeH="0" baseline="0" dirty="0">
                <a:ln>
                  <a:noFill/>
                </a:ln>
                <a:solidFill>
                  <a:schemeClr val="tx1"/>
                </a:solidFill>
                <a:effectLst/>
                <a:latin typeface="Arial" panose="020B0604020202020204" pitchFamily="34" charset="0"/>
              </a:rPr>
              <a:t>/XDP • Kernel-level ultra-fast filtering • Random Forest on CIC-DDoS-2019 dataset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3794488" cy="2987297"/>
          </a:xfrm>
          <a:custGeom>
            <a:avLst/>
            <a:gdLst/>
            <a:ahLst/>
            <a:cxnLst/>
            <a:rect l="l" t="t" r="r" b="b"/>
            <a:pathLst>
              <a:path w="3794488" h="2987297">
                <a:moveTo>
                  <a:pt x="0" y="0"/>
                </a:moveTo>
                <a:lnTo>
                  <a:pt x="3794488" y="0"/>
                </a:lnTo>
                <a:lnTo>
                  <a:pt x="3794488" y="2987297"/>
                </a:lnTo>
                <a:lnTo>
                  <a:pt x="0" y="29872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4029948" y="8472751"/>
            <a:ext cx="5511901" cy="2335042"/>
          </a:xfrm>
          <a:custGeom>
            <a:avLst/>
            <a:gdLst/>
            <a:ahLst/>
            <a:cxnLst/>
            <a:rect l="l" t="t" r="r" b="b"/>
            <a:pathLst>
              <a:path w="5511901" h="2335042">
                <a:moveTo>
                  <a:pt x="5511901" y="0"/>
                </a:moveTo>
                <a:lnTo>
                  <a:pt x="0" y="0"/>
                </a:lnTo>
                <a:lnTo>
                  <a:pt x="0" y="2335041"/>
                </a:lnTo>
                <a:lnTo>
                  <a:pt x="5511901" y="2335041"/>
                </a:lnTo>
                <a:lnTo>
                  <a:pt x="551190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7653652"/>
            <a:ext cx="2358844" cy="2380484"/>
          </a:xfrm>
          <a:custGeom>
            <a:avLst/>
            <a:gdLst/>
            <a:ahLst/>
            <a:cxnLst/>
            <a:rect l="l" t="t" r="r" b="b"/>
            <a:pathLst>
              <a:path w="2358844" h="2380484">
                <a:moveTo>
                  <a:pt x="0" y="2380485"/>
                </a:moveTo>
                <a:lnTo>
                  <a:pt x="2358844" y="2380485"/>
                </a:lnTo>
                <a:lnTo>
                  <a:pt x="2358844" y="0"/>
                </a:lnTo>
                <a:lnTo>
                  <a:pt x="0" y="0"/>
                </a:lnTo>
                <a:lnTo>
                  <a:pt x="0" y="238048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5108893" y="271913"/>
            <a:ext cx="2955054" cy="2982164"/>
          </a:xfrm>
          <a:custGeom>
            <a:avLst/>
            <a:gdLst/>
            <a:ahLst/>
            <a:cxnLst/>
            <a:rect l="l" t="t" r="r" b="b"/>
            <a:pathLst>
              <a:path w="2955054" h="2982164">
                <a:moveTo>
                  <a:pt x="2955054" y="0"/>
                </a:moveTo>
                <a:lnTo>
                  <a:pt x="0" y="0"/>
                </a:lnTo>
                <a:lnTo>
                  <a:pt x="0" y="2982165"/>
                </a:lnTo>
                <a:lnTo>
                  <a:pt x="2955054" y="2982165"/>
                </a:lnTo>
                <a:lnTo>
                  <a:pt x="295505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427908" y="1201962"/>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5347762" y="167138"/>
            <a:ext cx="7475491" cy="881010"/>
          </a:xfrm>
          <a:prstGeom prst="rect">
            <a:avLst/>
          </a:prstGeom>
        </p:spPr>
        <p:txBody>
          <a:bodyPr lIns="0" tIns="0" rIns="0" bIns="0" rtlCol="0" anchor="t">
            <a:spAutoFit/>
          </a:bodyPr>
          <a:lstStyle/>
          <a:p>
            <a:pPr algn="ctr">
              <a:lnSpc>
                <a:spcPts val="7000"/>
              </a:lnSpc>
            </a:pPr>
            <a:r>
              <a:rPr lang="en-US" sz="5000" dirty="0">
                <a:solidFill>
                  <a:srgbClr val="163C3F"/>
                </a:solidFill>
                <a:latin typeface="League Spartan"/>
                <a:ea typeface="League Spartan"/>
                <a:cs typeface="League Spartan"/>
                <a:sym typeface="League Spartan"/>
              </a:rPr>
              <a:t>A</a:t>
            </a:r>
            <a:r>
              <a:rPr lang="en-IN" sz="5400" dirty="0">
                <a:solidFill>
                  <a:srgbClr val="163C3F"/>
                </a:solidFill>
                <a:latin typeface="League Spartan"/>
                <a:ea typeface="League Spartan"/>
                <a:cs typeface="League Spartan"/>
                <a:sym typeface="League Spartan"/>
              </a:rPr>
              <a:t>BSTRACT</a:t>
            </a:r>
            <a:r>
              <a:rPr lang="en-IN" sz="5400" dirty="0"/>
              <a:t> </a:t>
            </a:r>
            <a:endParaRPr lang="en-US" sz="5000" dirty="0">
              <a:solidFill>
                <a:srgbClr val="163C3F"/>
              </a:solidFill>
              <a:latin typeface="League Spartan"/>
              <a:ea typeface="League Spartan"/>
              <a:cs typeface="League Spartan"/>
              <a:sym typeface="League Spartan"/>
            </a:endParaRPr>
          </a:p>
        </p:txBody>
      </p:sp>
      <p:sp>
        <p:nvSpPr>
          <p:cNvPr id="8" name="TextBox 8"/>
          <p:cNvSpPr txBox="1"/>
          <p:nvPr/>
        </p:nvSpPr>
        <p:spPr>
          <a:xfrm>
            <a:off x="1752600" y="1524229"/>
            <a:ext cx="15214240" cy="1802288"/>
          </a:xfrm>
          <a:prstGeom prst="rect">
            <a:avLst/>
          </a:prstGeom>
        </p:spPr>
        <p:txBody>
          <a:bodyPr lIns="0" tIns="0" rIns="0" bIns="0" rtlCol="0" anchor="t">
            <a:spAutoFit/>
          </a:bodyPr>
          <a:lstStyle/>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a:p>
            <a:pPr algn="l">
              <a:lnSpc>
                <a:spcPts val="3640"/>
              </a:lnSpc>
            </a:pPr>
            <a:endParaRPr lang="en-US" sz="2600" dirty="0">
              <a:solidFill>
                <a:srgbClr val="163C3F"/>
              </a:solidFill>
              <a:latin typeface="Lato"/>
              <a:ea typeface="Lato"/>
              <a:cs typeface="Lato"/>
              <a:sym typeface="Lato"/>
            </a:endParaRPr>
          </a:p>
        </p:txBody>
      </p:sp>
      <p:sp>
        <p:nvSpPr>
          <p:cNvPr id="10" name="TextBox 9">
            <a:extLst>
              <a:ext uri="{FF2B5EF4-FFF2-40B4-BE49-F238E27FC236}">
                <a16:creationId xmlns:a16="http://schemas.microsoft.com/office/drawing/2014/main" id="{DBCCC6AF-ED80-ACB5-B43A-E78A5D721147}"/>
              </a:ext>
            </a:extLst>
          </p:cNvPr>
          <p:cNvSpPr txBox="1"/>
          <p:nvPr/>
        </p:nvSpPr>
        <p:spPr>
          <a:xfrm>
            <a:off x="724903" y="1490874"/>
            <a:ext cx="16840200" cy="5925340"/>
          </a:xfrm>
          <a:prstGeom prst="rect">
            <a:avLst/>
          </a:prstGeom>
          <a:noFill/>
        </p:spPr>
        <p:txBody>
          <a:bodyPr wrap="square">
            <a:spAutoFit/>
          </a:bodyPr>
          <a:lstStyle/>
          <a:p>
            <a:pPr>
              <a:lnSpc>
                <a:spcPct val="150000"/>
              </a:lnSpc>
            </a:pPr>
            <a:r>
              <a:rPr lang="en-US" sz="3200" dirty="0"/>
              <a:t>What was implemented: The proposed hybrid architecture integrates a two-layer defense mechanism: </a:t>
            </a:r>
          </a:p>
          <a:p>
            <a:pPr marL="514350" indent="-514350">
              <a:lnSpc>
                <a:spcPct val="150000"/>
              </a:lnSpc>
              <a:buAutoNum type="arabicParenBoth"/>
            </a:pPr>
            <a:r>
              <a:rPr lang="en-US" sz="3200" dirty="0"/>
              <a:t>a kernel-space data plane using </a:t>
            </a:r>
            <a:r>
              <a:rPr lang="en-US" sz="3200" dirty="0" err="1"/>
              <a:t>eBPF</a:t>
            </a:r>
            <a:r>
              <a:rPr lang="en-US" sz="3200" dirty="0"/>
              <a:t>/XDP for line-rate packet filtering, blacklist enforcement, and statistics collection, and</a:t>
            </a:r>
          </a:p>
          <a:p>
            <a:pPr marL="514350" indent="-514350">
              <a:lnSpc>
                <a:spcPct val="150000"/>
              </a:lnSpc>
              <a:buAutoNum type="arabicParenBoth"/>
            </a:pPr>
            <a:r>
              <a:rPr lang="en-US" sz="3200" dirty="0"/>
              <a:t> a user-space control plane with statistical anomaly detection and machine learning inference. The system was fully implemented on Linux (Ubuntu 22.04, Kernel 5.15+) using C for </a:t>
            </a:r>
            <a:r>
              <a:rPr lang="en-US" sz="3200" dirty="0" err="1"/>
              <a:t>eBPF</a:t>
            </a:r>
            <a:r>
              <a:rPr lang="en-US" sz="3200" dirty="0"/>
              <a:t> programs and Python for control logic, featuring a Random Forest classifier with 64 CIC-compatible features, real-time web dashboard, and comprehensive alert system. </a:t>
            </a:r>
            <a:endParaRPr lang="en-IN" sz="3200" dirty="0"/>
          </a:p>
        </p:txBody>
      </p:sp>
    </p:spTree>
    <p:extLst>
      <p:ext uri="{BB962C8B-B14F-4D97-AF65-F5344CB8AC3E}">
        <p14:creationId xmlns:p14="http://schemas.microsoft.com/office/powerpoint/2010/main" val="18426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26649" y="7708808"/>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854023" y="2221686"/>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6428974" y="1019284"/>
            <a:ext cx="6165298"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INTRODUCTION</a:t>
            </a:r>
          </a:p>
        </p:txBody>
      </p:sp>
      <p:sp>
        <p:nvSpPr>
          <p:cNvPr id="10" name="TextBox 9">
            <a:extLst>
              <a:ext uri="{FF2B5EF4-FFF2-40B4-BE49-F238E27FC236}">
                <a16:creationId xmlns:a16="http://schemas.microsoft.com/office/drawing/2014/main" id="{B8411316-51F7-12FF-0FBF-22CEB547BA9C}"/>
              </a:ext>
            </a:extLst>
          </p:cNvPr>
          <p:cNvSpPr txBox="1"/>
          <p:nvPr/>
        </p:nvSpPr>
        <p:spPr>
          <a:xfrm>
            <a:off x="1752600" y="2828801"/>
            <a:ext cx="15773400" cy="6664004"/>
          </a:xfrm>
          <a:prstGeom prst="rect">
            <a:avLst/>
          </a:prstGeom>
          <a:noFill/>
        </p:spPr>
        <p:txBody>
          <a:bodyPr wrap="square">
            <a:spAutoFit/>
          </a:bodyPr>
          <a:lstStyle/>
          <a:p>
            <a:pPr>
              <a:lnSpc>
                <a:spcPct val="150000"/>
              </a:lnSpc>
            </a:pPr>
            <a:r>
              <a:rPr lang="en-IN" sz="3200" dirty="0"/>
              <a:t>1.1 Overview</a:t>
            </a:r>
          </a:p>
          <a:p>
            <a:pPr>
              <a:lnSpc>
                <a:spcPct val="150000"/>
              </a:lnSpc>
            </a:pPr>
            <a:r>
              <a:rPr lang="en-US" sz="3200" dirty="0"/>
              <a:t>Distributed Denial of Service (DDoS) attacks represent one of the most significant and persistent threats to modern network infrastructure. These attacks aim to overwhelm target systems, servers, or networks with massive volumes of illegitimate traffic, rendering services unavailable to legitimate users. The fundamental principle behind DDoS attacks is resource exhaustion – whether bandwidth, processing power, memory, or connection states. The evolution of DDoS attacks has been dramatic over the past two decades. Early attacks in the 2000s generated traffic measured in megabits per second (Mbps), while modern attacks regularly exceed terabits per second (</a:t>
            </a:r>
            <a:r>
              <a:rPr lang="en-US" sz="3200" dirty="0" err="1"/>
              <a:t>Tbps</a:t>
            </a:r>
            <a:r>
              <a:rPr lang="en-US" sz="3200" dirty="0"/>
              <a:t>). </a:t>
            </a:r>
            <a:endParaRPr lang="en-IN"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26649" y="7708808"/>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854023" y="2221686"/>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6428974" y="1019284"/>
            <a:ext cx="6165298"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INTRODUCTION</a:t>
            </a:r>
          </a:p>
        </p:txBody>
      </p:sp>
      <p:sp>
        <p:nvSpPr>
          <p:cNvPr id="10" name="TextBox 9">
            <a:extLst>
              <a:ext uri="{FF2B5EF4-FFF2-40B4-BE49-F238E27FC236}">
                <a16:creationId xmlns:a16="http://schemas.microsoft.com/office/drawing/2014/main" id="{B8411316-51F7-12FF-0FBF-22CEB547BA9C}"/>
              </a:ext>
            </a:extLst>
          </p:cNvPr>
          <p:cNvSpPr txBox="1"/>
          <p:nvPr/>
        </p:nvSpPr>
        <p:spPr>
          <a:xfrm>
            <a:off x="1752600" y="2828801"/>
            <a:ext cx="15773400" cy="5925340"/>
          </a:xfrm>
          <a:prstGeom prst="rect">
            <a:avLst/>
          </a:prstGeom>
          <a:noFill/>
        </p:spPr>
        <p:txBody>
          <a:bodyPr wrap="square">
            <a:spAutoFit/>
          </a:bodyPr>
          <a:lstStyle/>
          <a:p>
            <a:pPr>
              <a:lnSpc>
                <a:spcPct val="150000"/>
              </a:lnSpc>
            </a:pPr>
            <a:r>
              <a:rPr lang="en-US" sz="3200" dirty="0"/>
              <a:t>This project addresses these challenges through a novel hybrid approach that combines: 1. Kernel-level packet filtering using </a:t>
            </a:r>
            <a:r>
              <a:rPr lang="en-US" sz="3200" dirty="0" err="1"/>
              <a:t>eBPF</a:t>
            </a:r>
            <a:r>
              <a:rPr lang="en-US" sz="3200" dirty="0"/>
              <a:t> (Extended Berkeley Packet Filter) and XDP (</a:t>
            </a:r>
            <a:r>
              <a:rPr lang="en-US" sz="3200" dirty="0" err="1"/>
              <a:t>eXpress</a:t>
            </a:r>
            <a:r>
              <a:rPr lang="en-US" sz="3200" dirty="0"/>
              <a:t> Data Path) for ultra-fast processing 2. Machine learning classification using Random Forest trained on labeled attack datasets 3. Statistical anomaly detection for baseline comparison and flash crowd detection 4. Hybrid decision-making that weighs both statistical and ML evidence The system operates in real-time, processing packets at the NIC driver level while performing intelligent classification in user space, achieving both high throughput and high accuracy.</a:t>
            </a:r>
            <a:endParaRPr lang="en-IN" sz="3200" dirty="0"/>
          </a:p>
        </p:txBody>
      </p:sp>
    </p:spTree>
    <p:extLst>
      <p:ext uri="{BB962C8B-B14F-4D97-AF65-F5344CB8AC3E}">
        <p14:creationId xmlns:p14="http://schemas.microsoft.com/office/powerpoint/2010/main" val="743960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26649" y="7708808"/>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pic>
        <p:nvPicPr>
          <p:cNvPr id="9" name="Picture 8">
            <a:extLst>
              <a:ext uri="{FF2B5EF4-FFF2-40B4-BE49-F238E27FC236}">
                <a16:creationId xmlns:a16="http://schemas.microsoft.com/office/drawing/2014/main" id="{0E19DE45-6AA7-3A68-4FC8-B2DABAE97300}"/>
              </a:ext>
            </a:extLst>
          </p:cNvPr>
          <p:cNvPicPr>
            <a:picLocks noChangeAspect="1"/>
          </p:cNvPicPr>
          <p:nvPr/>
        </p:nvPicPr>
        <p:blipFill>
          <a:blip r:embed="rId8"/>
          <a:stretch>
            <a:fillRect/>
          </a:stretch>
        </p:blipFill>
        <p:spPr>
          <a:xfrm>
            <a:off x="4467116" y="1866900"/>
            <a:ext cx="8745179" cy="6848635"/>
          </a:xfrm>
          <a:prstGeom prst="rect">
            <a:avLst/>
          </a:prstGeom>
        </p:spPr>
      </p:pic>
      <p:sp>
        <p:nvSpPr>
          <p:cNvPr id="10" name="TextBox 9">
            <a:extLst>
              <a:ext uri="{FF2B5EF4-FFF2-40B4-BE49-F238E27FC236}">
                <a16:creationId xmlns:a16="http://schemas.microsoft.com/office/drawing/2014/main" id="{9FBB2602-A727-7AD7-6DE4-0916263FC8D6}"/>
              </a:ext>
            </a:extLst>
          </p:cNvPr>
          <p:cNvSpPr txBox="1"/>
          <p:nvPr/>
        </p:nvSpPr>
        <p:spPr>
          <a:xfrm>
            <a:off x="6438900" y="495300"/>
            <a:ext cx="5410200" cy="830997"/>
          </a:xfrm>
          <a:prstGeom prst="rect">
            <a:avLst/>
          </a:prstGeom>
          <a:noFill/>
        </p:spPr>
        <p:txBody>
          <a:bodyPr wrap="square" rtlCol="0">
            <a:spAutoFit/>
          </a:bodyPr>
          <a:lstStyle/>
          <a:p>
            <a:r>
              <a:rPr lang="en-IN" sz="4800" b="1" dirty="0"/>
              <a:t>SDN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4288137" cy="3375934"/>
          </a:xfrm>
          <a:custGeom>
            <a:avLst/>
            <a:gdLst/>
            <a:ahLst/>
            <a:cxnLst/>
            <a:rect l="l" t="t" r="r" b="b"/>
            <a:pathLst>
              <a:path w="4288137" h="3375934">
                <a:moveTo>
                  <a:pt x="0" y="0"/>
                </a:moveTo>
                <a:lnTo>
                  <a:pt x="4288137" y="0"/>
                </a:lnTo>
                <a:lnTo>
                  <a:pt x="4288137" y="3375934"/>
                </a:lnTo>
                <a:lnTo>
                  <a:pt x="0" y="33759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3611088" y="8295306"/>
            <a:ext cx="5930761" cy="2512486"/>
          </a:xfrm>
          <a:custGeom>
            <a:avLst/>
            <a:gdLst/>
            <a:ahLst/>
            <a:cxnLst/>
            <a:rect l="l" t="t" r="r" b="b"/>
            <a:pathLst>
              <a:path w="5930761" h="2512486">
                <a:moveTo>
                  <a:pt x="5930761" y="0"/>
                </a:moveTo>
                <a:lnTo>
                  <a:pt x="0" y="0"/>
                </a:lnTo>
                <a:lnTo>
                  <a:pt x="0" y="2512486"/>
                </a:lnTo>
                <a:lnTo>
                  <a:pt x="5930761" y="2512486"/>
                </a:lnTo>
                <a:lnTo>
                  <a:pt x="593076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7095380"/>
            <a:ext cx="2912041" cy="2938757"/>
          </a:xfrm>
          <a:custGeom>
            <a:avLst/>
            <a:gdLst/>
            <a:ahLst/>
            <a:cxnLst/>
            <a:rect l="l" t="t" r="r" b="b"/>
            <a:pathLst>
              <a:path w="2912041" h="2938757">
                <a:moveTo>
                  <a:pt x="0" y="2938757"/>
                </a:moveTo>
                <a:lnTo>
                  <a:pt x="2912041" y="2938757"/>
                </a:lnTo>
                <a:lnTo>
                  <a:pt x="2912041" y="0"/>
                </a:lnTo>
                <a:lnTo>
                  <a:pt x="0" y="0"/>
                </a:lnTo>
                <a:lnTo>
                  <a:pt x="0" y="2938757"/>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5162128" y="271913"/>
            <a:ext cx="2901819" cy="2928441"/>
          </a:xfrm>
          <a:custGeom>
            <a:avLst/>
            <a:gdLst/>
            <a:ahLst/>
            <a:cxnLst/>
            <a:rect l="l" t="t" r="r" b="b"/>
            <a:pathLst>
              <a:path w="2901819" h="2928441">
                <a:moveTo>
                  <a:pt x="2901819" y="0"/>
                </a:moveTo>
                <a:lnTo>
                  <a:pt x="0" y="0"/>
                </a:lnTo>
                <a:lnTo>
                  <a:pt x="0" y="2928441"/>
                </a:lnTo>
                <a:lnTo>
                  <a:pt x="2901819" y="2928441"/>
                </a:lnTo>
                <a:lnTo>
                  <a:pt x="2901819"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604409" y="1590179"/>
            <a:ext cx="8450017" cy="291910"/>
          </a:xfrm>
          <a:custGeom>
            <a:avLst/>
            <a:gdLst/>
            <a:ahLst/>
            <a:cxnLst/>
            <a:rect l="l" t="t" r="r" b="b"/>
            <a:pathLst>
              <a:path w="8450017" h="291910">
                <a:moveTo>
                  <a:pt x="0" y="0"/>
                </a:moveTo>
                <a:lnTo>
                  <a:pt x="8450017" y="0"/>
                </a:lnTo>
                <a:lnTo>
                  <a:pt x="8450017" y="291910"/>
                </a:lnTo>
                <a:lnTo>
                  <a:pt x="0" y="2919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3192811" y="705673"/>
            <a:ext cx="11753074" cy="755015"/>
          </a:xfrm>
          <a:prstGeom prst="rect">
            <a:avLst/>
          </a:prstGeom>
        </p:spPr>
        <p:txBody>
          <a:bodyPr lIns="0" tIns="0" rIns="0" bIns="0" rtlCol="0" anchor="t">
            <a:spAutoFit/>
          </a:bodyPr>
          <a:lstStyle/>
          <a:p>
            <a:pPr algn="ctr">
              <a:lnSpc>
                <a:spcPts val="6160"/>
              </a:lnSpc>
            </a:pPr>
            <a:r>
              <a:rPr lang="en-US" sz="4400">
                <a:solidFill>
                  <a:srgbClr val="163C3F"/>
                </a:solidFill>
                <a:latin typeface="League Spartan"/>
                <a:ea typeface="League Spartan"/>
                <a:cs typeface="League Spartan"/>
                <a:sym typeface="League Spartan"/>
              </a:rPr>
              <a:t>COMPARISION WITH EXISTING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4476788" cy="3524453"/>
          </a:xfrm>
          <a:custGeom>
            <a:avLst/>
            <a:gdLst/>
            <a:ahLst/>
            <a:cxnLst/>
            <a:rect l="l" t="t" r="r" b="b"/>
            <a:pathLst>
              <a:path w="4476788" h="3524453">
                <a:moveTo>
                  <a:pt x="0" y="0"/>
                </a:moveTo>
                <a:lnTo>
                  <a:pt x="4476789" y="0"/>
                </a:lnTo>
                <a:lnTo>
                  <a:pt x="4476789" y="3524454"/>
                </a:lnTo>
                <a:lnTo>
                  <a:pt x="0" y="35244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3650149" y="8311854"/>
            <a:ext cx="5891700" cy="2495938"/>
          </a:xfrm>
          <a:custGeom>
            <a:avLst/>
            <a:gdLst/>
            <a:ahLst/>
            <a:cxnLst/>
            <a:rect l="l" t="t" r="r" b="b"/>
            <a:pathLst>
              <a:path w="5891700" h="2495938">
                <a:moveTo>
                  <a:pt x="5891700" y="0"/>
                </a:moveTo>
                <a:lnTo>
                  <a:pt x="0" y="0"/>
                </a:lnTo>
                <a:lnTo>
                  <a:pt x="0" y="2495938"/>
                </a:lnTo>
                <a:lnTo>
                  <a:pt x="5891700" y="2495938"/>
                </a:lnTo>
                <a:lnTo>
                  <a:pt x="58917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428268" y="1372318"/>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5348123" y="320375"/>
            <a:ext cx="7475491"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BENEFITS</a:t>
            </a:r>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4476788" cy="3524453"/>
          </a:xfrm>
          <a:custGeom>
            <a:avLst/>
            <a:gdLst/>
            <a:ahLst/>
            <a:cxnLst/>
            <a:rect l="l" t="t" r="r" b="b"/>
            <a:pathLst>
              <a:path w="4476788" h="3524453">
                <a:moveTo>
                  <a:pt x="0" y="0"/>
                </a:moveTo>
                <a:lnTo>
                  <a:pt x="4476789" y="0"/>
                </a:lnTo>
                <a:lnTo>
                  <a:pt x="4476789" y="3524454"/>
                </a:lnTo>
                <a:lnTo>
                  <a:pt x="0" y="35244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3650149" y="8311854"/>
            <a:ext cx="5891700" cy="2495938"/>
          </a:xfrm>
          <a:custGeom>
            <a:avLst/>
            <a:gdLst/>
            <a:ahLst/>
            <a:cxnLst/>
            <a:rect l="l" t="t" r="r" b="b"/>
            <a:pathLst>
              <a:path w="5891700" h="2495938">
                <a:moveTo>
                  <a:pt x="5891700" y="0"/>
                </a:moveTo>
                <a:lnTo>
                  <a:pt x="0" y="0"/>
                </a:lnTo>
                <a:lnTo>
                  <a:pt x="0" y="2495938"/>
                </a:lnTo>
                <a:lnTo>
                  <a:pt x="5891700" y="2495938"/>
                </a:lnTo>
                <a:lnTo>
                  <a:pt x="58917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7185259"/>
            <a:ext cx="2822979" cy="2848878"/>
          </a:xfrm>
          <a:custGeom>
            <a:avLst/>
            <a:gdLst/>
            <a:ahLst/>
            <a:cxnLst/>
            <a:rect l="l" t="t" r="r" b="b"/>
            <a:pathLst>
              <a:path w="2822979" h="2848878">
                <a:moveTo>
                  <a:pt x="0" y="2848878"/>
                </a:moveTo>
                <a:lnTo>
                  <a:pt x="2822979" y="2848878"/>
                </a:lnTo>
                <a:lnTo>
                  <a:pt x="2822979" y="0"/>
                </a:lnTo>
                <a:lnTo>
                  <a:pt x="0" y="0"/>
                </a:lnTo>
                <a:lnTo>
                  <a:pt x="0" y="2848878"/>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5241575" y="271913"/>
            <a:ext cx="2822372" cy="2848265"/>
          </a:xfrm>
          <a:custGeom>
            <a:avLst/>
            <a:gdLst/>
            <a:ahLst/>
            <a:cxnLst/>
            <a:rect l="l" t="t" r="r" b="b"/>
            <a:pathLst>
              <a:path w="2822372" h="2848265">
                <a:moveTo>
                  <a:pt x="2822372" y="0"/>
                </a:moveTo>
                <a:lnTo>
                  <a:pt x="0" y="0"/>
                </a:lnTo>
                <a:lnTo>
                  <a:pt x="0" y="2848265"/>
                </a:lnTo>
                <a:lnTo>
                  <a:pt x="2822372" y="2848265"/>
                </a:lnTo>
                <a:lnTo>
                  <a:pt x="2822372"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428268" y="1372318"/>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5348123" y="320375"/>
            <a:ext cx="7475491"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BENEFITS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620692" cy="4425018"/>
          </a:xfrm>
          <a:custGeom>
            <a:avLst/>
            <a:gdLst/>
            <a:ahLst/>
            <a:cxnLst/>
            <a:rect l="l" t="t" r="r" b="b"/>
            <a:pathLst>
              <a:path w="5620692" h="4425018">
                <a:moveTo>
                  <a:pt x="0" y="0"/>
                </a:moveTo>
                <a:lnTo>
                  <a:pt x="5620692" y="0"/>
                </a:lnTo>
                <a:lnTo>
                  <a:pt x="5620692" y="4425018"/>
                </a:lnTo>
                <a:lnTo>
                  <a:pt x="0" y="44250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99932" y="7739853"/>
            <a:ext cx="7241917" cy="3067940"/>
          </a:xfrm>
          <a:custGeom>
            <a:avLst/>
            <a:gdLst/>
            <a:ahLst/>
            <a:cxnLst/>
            <a:rect l="l" t="t" r="r" b="b"/>
            <a:pathLst>
              <a:path w="7241917" h="3067940">
                <a:moveTo>
                  <a:pt x="7241917" y="0"/>
                </a:moveTo>
                <a:lnTo>
                  <a:pt x="0" y="0"/>
                </a:lnTo>
                <a:lnTo>
                  <a:pt x="0" y="3067939"/>
                </a:lnTo>
                <a:lnTo>
                  <a:pt x="7241917" y="3067939"/>
                </a:lnTo>
                <a:lnTo>
                  <a:pt x="72419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428268" y="1372318"/>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TextBox 8"/>
          <p:cNvSpPr txBox="1"/>
          <p:nvPr/>
        </p:nvSpPr>
        <p:spPr>
          <a:xfrm>
            <a:off x="5348123" y="320375"/>
            <a:ext cx="7475491"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OBJECTIVES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pic>
        <p:nvPicPr>
          <p:cNvPr id="1028" name="Picture 4" descr="What is eBPF? An Introduction and Deep Dive into the eBPF Technology">
            <a:extLst>
              <a:ext uri="{FF2B5EF4-FFF2-40B4-BE49-F238E27FC236}">
                <a16:creationId xmlns:a16="http://schemas.microsoft.com/office/drawing/2014/main" id="{9597563E-F6D5-AE56-D614-29D7CEEB5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0" y="1908729"/>
            <a:ext cx="14363700" cy="740092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2"/>
          <p:cNvSpPr/>
          <p:nvPr/>
        </p:nvSpPr>
        <p:spPr>
          <a:xfrm>
            <a:off x="-732365" y="-561924"/>
            <a:ext cx="5620692" cy="4425018"/>
          </a:xfrm>
          <a:custGeom>
            <a:avLst/>
            <a:gdLst/>
            <a:ahLst/>
            <a:cxnLst/>
            <a:rect l="l" t="t" r="r" b="b"/>
            <a:pathLst>
              <a:path w="5620692" h="4425018">
                <a:moveTo>
                  <a:pt x="0" y="0"/>
                </a:moveTo>
                <a:lnTo>
                  <a:pt x="5620692" y="0"/>
                </a:lnTo>
                <a:lnTo>
                  <a:pt x="5620692" y="4425018"/>
                </a:lnTo>
                <a:lnTo>
                  <a:pt x="0" y="44250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 name="Freeform 3"/>
          <p:cNvSpPr/>
          <p:nvPr/>
        </p:nvSpPr>
        <p:spPr>
          <a:xfrm flipH="1">
            <a:off x="12299932" y="7739853"/>
            <a:ext cx="7241917" cy="3067940"/>
          </a:xfrm>
          <a:custGeom>
            <a:avLst/>
            <a:gdLst/>
            <a:ahLst/>
            <a:cxnLst/>
            <a:rect l="l" t="t" r="r" b="b"/>
            <a:pathLst>
              <a:path w="7241917" h="3067940">
                <a:moveTo>
                  <a:pt x="7241917" y="0"/>
                </a:moveTo>
                <a:lnTo>
                  <a:pt x="0" y="0"/>
                </a:lnTo>
                <a:lnTo>
                  <a:pt x="0" y="3067939"/>
                </a:lnTo>
                <a:lnTo>
                  <a:pt x="7241917" y="3067939"/>
                </a:lnTo>
                <a:lnTo>
                  <a:pt x="7241917"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9" name="TextBox 8">
            <a:extLst>
              <a:ext uri="{FF2B5EF4-FFF2-40B4-BE49-F238E27FC236}">
                <a16:creationId xmlns:a16="http://schemas.microsoft.com/office/drawing/2014/main" id="{50722DBB-FB40-5C9F-452C-A7D61806E648}"/>
              </a:ext>
            </a:extLst>
          </p:cNvPr>
          <p:cNvSpPr txBox="1"/>
          <p:nvPr/>
        </p:nvSpPr>
        <p:spPr>
          <a:xfrm>
            <a:off x="7391400" y="542589"/>
            <a:ext cx="4724400" cy="1107996"/>
          </a:xfrm>
          <a:prstGeom prst="rect">
            <a:avLst/>
          </a:prstGeom>
          <a:noFill/>
        </p:spPr>
        <p:txBody>
          <a:bodyPr wrap="square" rtlCol="0">
            <a:spAutoFit/>
          </a:bodyPr>
          <a:lstStyle/>
          <a:p>
            <a:r>
              <a:rPr lang="en-IN" sz="6600" dirty="0" err="1"/>
              <a:t>eBPF</a:t>
            </a:r>
            <a:endParaRPr lang="en-IN" sz="6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620692" cy="4425018"/>
          </a:xfrm>
          <a:custGeom>
            <a:avLst/>
            <a:gdLst/>
            <a:ahLst/>
            <a:cxnLst/>
            <a:rect l="l" t="t" r="r" b="b"/>
            <a:pathLst>
              <a:path w="5620692" h="4425018">
                <a:moveTo>
                  <a:pt x="0" y="0"/>
                </a:moveTo>
                <a:lnTo>
                  <a:pt x="5620692" y="0"/>
                </a:lnTo>
                <a:lnTo>
                  <a:pt x="5620692" y="4425018"/>
                </a:lnTo>
                <a:lnTo>
                  <a:pt x="0" y="44250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99932" y="7739853"/>
            <a:ext cx="7241917" cy="3067940"/>
          </a:xfrm>
          <a:custGeom>
            <a:avLst/>
            <a:gdLst/>
            <a:ahLst/>
            <a:cxnLst/>
            <a:rect l="l" t="t" r="r" b="b"/>
            <a:pathLst>
              <a:path w="7241917" h="3067940">
                <a:moveTo>
                  <a:pt x="7241917" y="0"/>
                </a:moveTo>
                <a:lnTo>
                  <a:pt x="0" y="0"/>
                </a:lnTo>
                <a:lnTo>
                  <a:pt x="0" y="3067939"/>
                </a:lnTo>
                <a:lnTo>
                  <a:pt x="7241917" y="3067939"/>
                </a:lnTo>
                <a:lnTo>
                  <a:pt x="72419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pic>
        <p:nvPicPr>
          <p:cNvPr id="1026" name="Picture 2">
            <a:extLst>
              <a:ext uri="{FF2B5EF4-FFF2-40B4-BE49-F238E27FC236}">
                <a16:creationId xmlns:a16="http://schemas.microsoft.com/office/drawing/2014/main" id="{E133E8E5-ED0A-DC4E-505F-78BDD6F474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8651" y="2712312"/>
            <a:ext cx="8414743" cy="559522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0722DBB-FB40-5C9F-452C-A7D61806E648}"/>
              </a:ext>
            </a:extLst>
          </p:cNvPr>
          <p:cNvSpPr txBox="1"/>
          <p:nvPr/>
        </p:nvSpPr>
        <p:spPr>
          <a:xfrm>
            <a:off x="6473822" y="833531"/>
            <a:ext cx="4724400" cy="1107996"/>
          </a:xfrm>
          <a:prstGeom prst="rect">
            <a:avLst/>
          </a:prstGeom>
          <a:noFill/>
        </p:spPr>
        <p:txBody>
          <a:bodyPr wrap="square" rtlCol="0">
            <a:spAutoFit/>
          </a:bodyPr>
          <a:lstStyle/>
          <a:p>
            <a:r>
              <a:rPr lang="en-IN" sz="6600" dirty="0"/>
              <a:t>BPF Map</a:t>
            </a:r>
          </a:p>
        </p:txBody>
      </p:sp>
    </p:spTree>
    <p:extLst>
      <p:ext uri="{BB962C8B-B14F-4D97-AF65-F5344CB8AC3E}">
        <p14:creationId xmlns:p14="http://schemas.microsoft.com/office/powerpoint/2010/main" val="2231891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CE3EC"/>
        </a:solidFill>
        <a:effectLst/>
      </p:bgPr>
    </p:bg>
    <p:spTree>
      <p:nvGrpSpPr>
        <p:cNvPr id="1" name=""/>
        <p:cNvGrpSpPr/>
        <p:nvPr/>
      </p:nvGrpSpPr>
      <p:grpSpPr>
        <a:xfrm>
          <a:off x="0" y="0"/>
          <a:ext cx="0" cy="0"/>
          <a:chOff x="0" y="0"/>
          <a:chExt cx="0" cy="0"/>
        </a:xfrm>
      </p:grpSpPr>
      <p:sp>
        <p:nvSpPr>
          <p:cNvPr id="2" name="Freeform 2"/>
          <p:cNvSpPr/>
          <p:nvPr/>
        </p:nvSpPr>
        <p:spPr>
          <a:xfrm>
            <a:off x="-732365" y="-561924"/>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2226649" y="7708808"/>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5428268" y="1372318"/>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5348123" y="320375"/>
            <a:ext cx="7475491" cy="863600"/>
          </a:xfrm>
          <a:prstGeom prst="rect">
            <a:avLst/>
          </a:prstGeom>
        </p:spPr>
        <p:txBody>
          <a:bodyPr lIns="0" tIns="0" rIns="0" bIns="0" rtlCol="0" anchor="t">
            <a:spAutoFit/>
          </a:bodyPr>
          <a:lstStyle/>
          <a:p>
            <a:pPr algn="ctr">
              <a:lnSpc>
                <a:spcPts val="7000"/>
              </a:lnSpc>
            </a:pPr>
            <a:r>
              <a:rPr lang="en-US" sz="5000">
                <a:solidFill>
                  <a:srgbClr val="163C3F"/>
                </a:solidFill>
                <a:latin typeface="League Spartan"/>
                <a:ea typeface="League Spartan"/>
                <a:cs typeface="League Spartan"/>
                <a:sym typeface="League Spartan"/>
              </a:rPr>
              <a:t>REFERENCES</a:t>
            </a:r>
          </a:p>
        </p:txBody>
      </p:sp>
      <p:sp>
        <p:nvSpPr>
          <p:cNvPr id="8" name="TextBox 8"/>
          <p:cNvSpPr txBox="1"/>
          <p:nvPr/>
        </p:nvSpPr>
        <p:spPr>
          <a:xfrm>
            <a:off x="2212817" y="2417517"/>
            <a:ext cx="14464840" cy="1024511"/>
          </a:xfrm>
          <a:prstGeom prst="rect">
            <a:avLst/>
          </a:prstGeom>
        </p:spPr>
        <p:txBody>
          <a:bodyPr lIns="0" tIns="0" rIns="0" bIns="0" rtlCol="0" anchor="t">
            <a:spAutoFit/>
          </a:bodyPr>
          <a:lstStyle/>
          <a:p>
            <a:pPr algn="l">
              <a:lnSpc>
                <a:spcPts val="4200"/>
              </a:lnSpc>
            </a:pPr>
            <a:r>
              <a:rPr lang="en-US" sz="3000" b="1" dirty="0">
                <a:solidFill>
                  <a:srgbClr val="163C3F"/>
                </a:solidFill>
                <a:latin typeface="Lato Bold"/>
                <a:ea typeface="Lato Bold"/>
                <a:cs typeface="Lato Bold"/>
                <a:sym typeface="Lato Bold"/>
              </a:rPr>
              <a:t>IEEE Papers: </a:t>
            </a:r>
          </a:p>
          <a:p>
            <a:pPr algn="l">
              <a:lnSpc>
                <a:spcPts val="4200"/>
              </a:lnSpc>
            </a:pPr>
            <a:endParaRPr lang="en-US" sz="3000" b="1" dirty="0">
              <a:solidFill>
                <a:srgbClr val="163C3F"/>
              </a:solidFill>
              <a:latin typeface="Lato Bold"/>
              <a:ea typeface="Lato Bold"/>
              <a:cs typeface="Lato Bold"/>
              <a:sym typeface="Lato Bold"/>
              <a:hlinkClick r:id="rId10" tooltip="https://ieeexplore.ieee.org/document/9422649"/>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IN"/>
          </a:p>
        </p:txBody>
      </p:sp>
      <p:sp>
        <p:nvSpPr>
          <p:cNvPr id="3" name="Freeform 3"/>
          <p:cNvSpPr/>
          <p:nvPr/>
        </p:nvSpPr>
        <p:spPr>
          <a:xfrm>
            <a:off x="2852388" y="2567505"/>
            <a:ext cx="12583225" cy="4987533"/>
          </a:xfrm>
          <a:custGeom>
            <a:avLst/>
            <a:gdLst/>
            <a:ahLst/>
            <a:cxnLst/>
            <a:rect l="l" t="t" r="r" b="b"/>
            <a:pathLst>
              <a:path w="12583225" h="4987533">
                <a:moveTo>
                  <a:pt x="0" y="0"/>
                </a:moveTo>
                <a:lnTo>
                  <a:pt x="12583224" y="0"/>
                </a:lnTo>
                <a:lnTo>
                  <a:pt x="12583224" y="4987533"/>
                </a:lnTo>
                <a:lnTo>
                  <a:pt x="0" y="4987533"/>
                </a:lnTo>
                <a:lnTo>
                  <a:pt x="0" y="0"/>
                </a:lnTo>
                <a:close/>
              </a:path>
            </a:pathLst>
          </a:custGeom>
          <a:blipFill>
            <a:blip r:embed="rId3">
              <a:alphaModFix amt="7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732365" y="-561924"/>
            <a:ext cx="5555759" cy="4373898"/>
          </a:xfrm>
          <a:custGeom>
            <a:avLst/>
            <a:gdLst/>
            <a:ahLst/>
            <a:cxnLst/>
            <a:rect l="l" t="t" r="r" b="b"/>
            <a:pathLst>
              <a:path w="5555759" h="4373898">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flipH="1">
            <a:off x="12226649" y="7708808"/>
            <a:ext cx="7315200" cy="3098985"/>
          </a:xfrm>
          <a:custGeom>
            <a:avLst/>
            <a:gdLst/>
            <a:ahLst/>
            <a:cxnLst/>
            <a:rect l="l" t="t" r="r" b="b"/>
            <a:pathLst>
              <a:path w="7315200" h="3098985">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6" name="Freeform 6"/>
          <p:cNvSpPr/>
          <p:nvPr/>
        </p:nvSpPr>
        <p:spPr>
          <a:xfrm flipV="1">
            <a:off x="280770" y="6134592"/>
            <a:ext cx="3864095" cy="3899545"/>
          </a:xfrm>
          <a:custGeom>
            <a:avLst/>
            <a:gdLst/>
            <a:ahLst/>
            <a:cxnLst/>
            <a:rect l="l" t="t" r="r" b="b"/>
            <a:pathLst>
              <a:path w="3864095" h="389954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7" name="TextBox 7"/>
          <p:cNvSpPr txBox="1"/>
          <p:nvPr/>
        </p:nvSpPr>
        <p:spPr>
          <a:xfrm>
            <a:off x="1577296" y="3673126"/>
            <a:ext cx="15133407" cy="2249256"/>
          </a:xfrm>
          <a:prstGeom prst="rect">
            <a:avLst/>
          </a:prstGeom>
        </p:spPr>
        <p:txBody>
          <a:bodyPr lIns="0" tIns="0" rIns="0" bIns="0" rtlCol="0" anchor="t">
            <a:spAutoFit/>
          </a:bodyPr>
          <a:lstStyle/>
          <a:p>
            <a:pPr algn="ctr">
              <a:lnSpc>
                <a:spcPts val="18300"/>
              </a:lnSpc>
            </a:pPr>
            <a:r>
              <a:rPr lang="en-US" sz="13071">
                <a:solidFill>
                  <a:srgbClr val="163C3F"/>
                </a:solidFill>
                <a:latin typeface="League Spartan"/>
                <a:ea typeface="League Spartan"/>
                <a:cs typeface="League Spartan"/>
                <a:sym typeface="League Spartan"/>
              </a:rPr>
              <a:t>THANK YOU</a:t>
            </a:r>
          </a:p>
        </p:txBody>
      </p:sp>
      <p:sp>
        <p:nvSpPr>
          <p:cNvPr id="8" name="Freeform 8"/>
          <p:cNvSpPr/>
          <p:nvPr/>
        </p:nvSpPr>
        <p:spPr>
          <a:xfrm flipH="1">
            <a:off x="14199852" y="271913"/>
            <a:ext cx="3864095" cy="3899545"/>
          </a:xfrm>
          <a:custGeom>
            <a:avLst/>
            <a:gdLst/>
            <a:ahLst/>
            <a:cxnLst/>
            <a:rect l="l" t="t" r="r" b="b"/>
            <a:pathLst>
              <a:path w="3864095" h="389954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9" name="Freeform 9"/>
          <p:cNvSpPr/>
          <p:nvPr/>
        </p:nvSpPr>
        <p:spPr>
          <a:xfrm>
            <a:off x="5486400" y="6022208"/>
            <a:ext cx="7315200" cy="252707"/>
          </a:xfrm>
          <a:custGeom>
            <a:avLst/>
            <a:gdLst/>
            <a:ahLst/>
            <a:cxnLst/>
            <a:rect l="l" t="t" r="r" b="b"/>
            <a:pathLst>
              <a:path w="7315200" h="252707">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TotalTime>
  <Words>423</Words>
  <Application>Microsoft Office PowerPoint</Application>
  <PresentationFormat>Custom</PresentationFormat>
  <Paragraphs>37</Paragraphs>
  <Slides>14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Canva Sans</vt:lpstr>
      <vt:lpstr>Lato</vt:lpstr>
      <vt:lpstr>Canva Sans Bold</vt:lpstr>
      <vt:lpstr>Lato Bold</vt:lpstr>
      <vt:lpstr>Arial</vt:lpstr>
      <vt:lpstr>League Spartan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Sales Prediction using ANN review</dc:title>
  <cp:lastModifiedBy>UPADHYAYULA CHANDRSEKHAR</cp:lastModifiedBy>
  <cp:revision>30</cp:revision>
  <dcterms:created xsi:type="dcterms:W3CDTF">2006-08-16T00:00:00Z</dcterms:created>
  <dcterms:modified xsi:type="dcterms:W3CDTF">2026-01-13T08:41:58Z</dcterms:modified>
  <dc:identifier>DAGfGOszRFw</dc:identifier>
</cp:coreProperties>
</file>